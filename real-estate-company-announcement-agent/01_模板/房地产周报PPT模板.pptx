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1088654" r:id="rId2"/>
  </p:sldIdLst>
  <p:sldSz cx="9144000" cy="6858000" type="screen4x3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2" userDrawn="1">
          <p15:clr>
            <a:srgbClr val="A4A3A4"/>
          </p15:clr>
        </p15:guide>
        <p15:guide id="2" pos="30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10000"/>
    <a:srgbClr val="B3B3B3"/>
    <a:srgbClr val="561919"/>
    <a:srgbClr val="640000"/>
    <a:srgbClr val="888889"/>
    <a:srgbClr val="E7E7E7"/>
    <a:srgbClr val="C3C3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87" autoAdjust="0"/>
    <p:restoredTop sz="94722" autoAdjust="0"/>
  </p:normalViewPr>
  <p:slideViewPr>
    <p:cSldViewPr showGuides="1">
      <p:cViewPr varScale="1">
        <p:scale>
          <a:sx n="102" d="100"/>
          <a:sy n="102" d="100"/>
        </p:scale>
        <p:origin x="1065" y="51"/>
      </p:cViewPr>
      <p:guideLst>
        <p:guide orient="horz" pos="2222"/>
        <p:guide pos="302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56A5D-057E-45DC-B067-98FAC9255A36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AE8A3B-DC56-4C01-9E8D-BD4E9C4CD9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D150B-5AAB-4B9B-9ED6-62468B035A37}" type="datetimeFigureOut">
              <a:rPr lang="zh-CN" altLang="en-US" smtClean="0"/>
              <a:t>2026/9/16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68D14-A308-43EC-BCCD-7D7696237E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51381-5846-3BE6-7FF0-6431270C7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EE8C4E-75CF-7C2D-CE81-37A71744F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0416C7-E8CF-F2B1-96B8-F94FFAF2C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AB20B8-585C-83CD-3FDE-92BF9D51A5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A68D14-A308-43EC-BCCD-7D7696237E2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515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1074440" y="4869160"/>
            <a:ext cx="6995120" cy="72008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单击此处添加演示文稿标题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0" hasCustomPrompt="1"/>
          </p:nvPr>
        </p:nvSpPr>
        <p:spPr>
          <a:xfrm>
            <a:off x="1475582" y="5761954"/>
            <a:ext cx="6192837" cy="461665"/>
          </a:xfr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400">
                <a:solidFill>
                  <a:schemeClr val="accent2"/>
                </a:solidFill>
              </a:defRPr>
            </a:lvl2pPr>
          </a:lstStyle>
          <a:p>
            <a:pPr lvl="0"/>
            <a:r>
              <a:rPr lang="zh-CN" altLang="en-US" dirty="0"/>
              <a:t>单击此处添加演示文稿副标题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731019" y="2073769"/>
            <a:ext cx="5137123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/>
              <a:t>第一部分标题请在这里填写</a:t>
            </a:r>
          </a:p>
        </p:txBody>
      </p:sp>
      <p:sp>
        <p:nvSpPr>
          <p:cNvPr id="28" name="文本占位符 27"/>
          <p:cNvSpPr>
            <a:spLocks noGrp="1"/>
          </p:cNvSpPr>
          <p:nvPr>
            <p:ph type="body" sz="quarter" idx="15" hasCustomPrompt="1"/>
          </p:nvPr>
        </p:nvSpPr>
        <p:spPr>
          <a:xfrm>
            <a:off x="731021" y="2712659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第二部分标题请在这里填写</a:t>
            </a:r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16" hasCustomPrompt="1"/>
          </p:nvPr>
        </p:nvSpPr>
        <p:spPr>
          <a:xfrm>
            <a:off x="731019" y="3344071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第三部分标题请在这里填写</a:t>
            </a:r>
          </a:p>
        </p:txBody>
      </p:sp>
      <p:sp>
        <p:nvSpPr>
          <p:cNvPr id="31" name="文本占位符 29"/>
          <p:cNvSpPr>
            <a:spLocks noGrp="1"/>
          </p:cNvSpPr>
          <p:nvPr>
            <p:ph type="body" sz="quarter" idx="17" hasCustomPrompt="1"/>
          </p:nvPr>
        </p:nvSpPr>
        <p:spPr>
          <a:xfrm>
            <a:off x="731018" y="3982961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第四部分标题请在这里填写</a:t>
            </a:r>
          </a:p>
        </p:txBody>
      </p:sp>
      <p:sp>
        <p:nvSpPr>
          <p:cNvPr id="32" name="文本占位符 29"/>
          <p:cNvSpPr>
            <a:spLocks noGrp="1"/>
          </p:cNvSpPr>
          <p:nvPr>
            <p:ph type="body" sz="quarter" idx="18" hasCustomPrompt="1"/>
          </p:nvPr>
        </p:nvSpPr>
        <p:spPr>
          <a:xfrm>
            <a:off x="731018" y="4611847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第五部分标题请在这里填写</a:t>
            </a: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21"/>
          </p:nvPr>
        </p:nvSpPr>
        <p:spPr>
          <a:xfrm>
            <a:off x="8244408" y="6398609"/>
            <a:ext cx="442392" cy="365125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8194940" y="6669360"/>
            <a:ext cx="52669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3" descr="E:\工作2019\鹏华\PPT\0429\拆分\鹏华基金PPT 0429-2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7" t="35877" r="4758" b="24602"/>
          <a:stretch>
            <a:fillRect/>
          </a:stretch>
        </p:blipFill>
        <p:spPr bwMode="auto">
          <a:xfrm>
            <a:off x="6948264" y="260649"/>
            <a:ext cx="1760730" cy="39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接连接符 17"/>
          <p:cNvCxnSpPr/>
          <p:nvPr userDrawn="1"/>
        </p:nvCxnSpPr>
        <p:spPr>
          <a:xfrm>
            <a:off x="556423" y="720314"/>
            <a:ext cx="803026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7112500" y="720314"/>
            <a:ext cx="1491948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731019" y="2073769"/>
            <a:ext cx="5137123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第一部分标题请在这里填写</a:t>
            </a:r>
          </a:p>
        </p:txBody>
      </p:sp>
      <p:sp>
        <p:nvSpPr>
          <p:cNvPr id="28" name="文本占位符 27"/>
          <p:cNvSpPr>
            <a:spLocks noGrp="1"/>
          </p:cNvSpPr>
          <p:nvPr>
            <p:ph type="body" sz="quarter" idx="15" hasCustomPrompt="1"/>
          </p:nvPr>
        </p:nvSpPr>
        <p:spPr>
          <a:xfrm>
            <a:off x="731021" y="2712659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第二部分标题请在这里填写</a:t>
            </a:r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16" hasCustomPrompt="1"/>
          </p:nvPr>
        </p:nvSpPr>
        <p:spPr>
          <a:xfrm>
            <a:off x="731019" y="3344071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第三部分标题请在这里填写</a:t>
            </a:r>
          </a:p>
        </p:txBody>
      </p:sp>
      <p:sp>
        <p:nvSpPr>
          <p:cNvPr id="31" name="文本占位符 29"/>
          <p:cNvSpPr>
            <a:spLocks noGrp="1"/>
          </p:cNvSpPr>
          <p:nvPr>
            <p:ph type="body" sz="quarter" idx="17" hasCustomPrompt="1"/>
          </p:nvPr>
        </p:nvSpPr>
        <p:spPr>
          <a:xfrm>
            <a:off x="731018" y="3982961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第四部分标题请在这里填写</a:t>
            </a:r>
          </a:p>
        </p:txBody>
      </p:sp>
      <p:sp>
        <p:nvSpPr>
          <p:cNvPr id="32" name="文本占位符 29"/>
          <p:cNvSpPr>
            <a:spLocks noGrp="1"/>
          </p:cNvSpPr>
          <p:nvPr>
            <p:ph type="body" sz="quarter" idx="18" hasCustomPrompt="1"/>
          </p:nvPr>
        </p:nvSpPr>
        <p:spPr>
          <a:xfrm>
            <a:off x="731018" y="4611847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第五部分标题请在这里填写</a:t>
            </a:r>
          </a:p>
        </p:txBody>
      </p:sp>
      <p:sp>
        <p:nvSpPr>
          <p:cNvPr id="34" name="灯片编号占位符 5"/>
          <p:cNvSpPr txBox="1"/>
          <p:nvPr userDrawn="1"/>
        </p:nvSpPr>
        <p:spPr>
          <a:xfrm>
            <a:off x="6470848" y="656262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mtClean="0">
                <a:solidFill>
                  <a:schemeClr val="bg1"/>
                </a:solidFill>
              </a:rPr>
              <a:t>‹#›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21"/>
          </p:nvPr>
        </p:nvSpPr>
        <p:spPr>
          <a:xfrm>
            <a:off x="8244408" y="6398609"/>
            <a:ext cx="442392" cy="365125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8194940" y="6669360"/>
            <a:ext cx="52669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3" descr="E:\工作2019\鹏华\PPT\0429\拆分\鹏华基金PPT 0429-2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7" t="35877" r="4758" b="24602"/>
          <a:stretch>
            <a:fillRect/>
          </a:stretch>
        </p:blipFill>
        <p:spPr bwMode="auto">
          <a:xfrm>
            <a:off x="6948264" y="260649"/>
            <a:ext cx="1760730" cy="39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接连接符 17"/>
          <p:cNvCxnSpPr/>
          <p:nvPr userDrawn="1"/>
        </p:nvCxnSpPr>
        <p:spPr>
          <a:xfrm>
            <a:off x="556423" y="720314"/>
            <a:ext cx="803026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7112500" y="720314"/>
            <a:ext cx="1491948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占位符 29"/>
          <p:cNvSpPr>
            <a:spLocks noGrp="1"/>
          </p:cNvSpPr>
          <p:nvPr>
            <p:ph type="body" sz="quarter" idx="16" hasCustomPrompt="1"/>
          </p:nvPr>
        </p:nvSpPr>
        <p:spPr>
          <a:xfrm>
            <a:off x="731019" y="3344071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第三部分标题请在这里填写</a:t>
            </a:r>
          </a:p>
        </p:txBody>
      </p:sp>
      <p:sp>
        <p:nvSpPr>
          <p:cNvPr id="31" name="文本占位符 29"/>
          <p:cNvSpPr>
            <a:spLocks noGrp="1"/>
          </p:cNvSpPr>
          <p:nvPr>
            <p:ph type="body" sz="quarter" idx="17" hasCustomPrompt="1"/>
          </p:nvPr>
        </p:nvSpPr>
        <p:spPr>
          <a:xfrm>
            <a:off x="731018" y="3982961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第四部分标题请在这里填写</a:t>
            </a:r>
          </a:p>
        </p:txBody>
      </p:sp>
      <p:sp>
        <p:nvSpPr>
          <p:cNvPr id="32" name="文本占位符 29"/>
          <p:cNvSpPr>
            <a:spLocks noGrp="1"/>
          </p:cNvSpPr>
          <p:nvPr>
            <p:ph type="body" sz="quarter" idx="18" hasCustomPrompt="1"/>
          </p:nvPr>
        </p:nvSpPr>
        <p:spPr>
          <a:xfrm>
            <a:off x="731018" y="4611847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第五部分标题请在这里填写</a:t>
            </a: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21"/>
          </p:nvPr>
        </p:nvSpPr>
        <p:spPr>
          <a:xfrm>
            <a:off x="8244408" y="6398609"/>
            <a:ext cx="442392" cy="365125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8194940" y="6669360"/>
            <a:ext cx="52669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3" descr="E:\工作2019\鹏华\PPT\0429\拆分\鹏华基金PPT 0429-2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7" t="35877" r="4758" b="24602"/>
          <a:stretch>
            <a:fillRect/>
          </a:stretch>
        </p:blipFill>
        <p:spPr bwMode="auto">
          <a:xfrm>
            <a:off x="6948264" y="260649"/>
            <a:ext cx="1760730" cy="39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接连接符 17"/>
          <p:cNvCxnSpPr/>
          <p:nvPr userDrawn="1"/>
        </p:nvCxnSpPr>
        <p:spPr>
          <a:xfrm>
            <a:off x="556423" y="720314"/>
            <a:ext cx="803026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7112500" y="720314"/>
            <a:ext cx="1491948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4"/>
          <p:cNvSpPr>
            <a:spLocks noGrp="1"/>
          </p:cNvSpPr>
          <p:nvPr>
            <p:ph type="body" sz="quarter" idx="22" hasCustomPrompt="1"/>
          </p:nvPr>
        </p:nvSpPr>
        <p:spPr>
          <a:xfrm>
            <a:off x="731018" y="2076834"/>
            <a:ext cx="5137123" cy="369332"/>
          </a:xfrm>
        </p:spPr>
        <p:txBody>
          <a:bodyPr anchor="t"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  <a:latin typeface="+mn-ea"/>
                <a:ea typeface="+mn-ea"/>
              </a:defRPr>
            </a:lvl1pPr>
            <a:lvl2pPr>
              <a:defRPr sz="1800" b="1">
                <a:latin typeface="+mn-ea"/>
                <a:ea typeface="+mn-ea"/>
              </a:defRPr>
            </a:lvl2pPr>
            <a:lvl3pPr>
              <a:defRPr sz="1800" b="1">
                <a:latin typeface="+mn-ea"/>
                <a:ea typeface="+mn-ea"/>
              </a:defRPr>
            </a:lvl3pPr>
            <a:lvl4pPr>
              <a:defRPr sz="1800" b="1">
                <a:latin typeface="+mn-ea"/>
                <a:ea typeface="+mn-ea"/>
              </a:defRPr>
            </a:lvl4pPr>
            <a:lvl5pPr>
              <a:defRPr sz="18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第一部分标题请在这里填写</a:t>
            </a:r>
          </a:p>
        </p:txBody>
      </p:sp>
      <p:sp>
        <p:nvSpPr>
          <p:cNvPr id="21" name="文本占位符 29"/>
          <p:cNvSpPr>
            <a:spLocks noGrp="1"/>
          </p:cNvSpPr>
          <p:nvPr>
            <p:ph type="body" sz="quarter" idx="23" hasCustomPrompt="1"/>
          </p:nvPr>
        </p:nvSpPr>
        <p:spPr>
          <a:xfrm>
            <a:off x="731019" y="2709766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第二部分标题请在这里填写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占位符 27"/>
          <p:cNvSpPr>
            <a:spLocks noGrp="1"/>
          </p:cNvSpPr>
          <p:nvPr>
            <p:ph type="body" sz="quarter" idx="15" hasCustomPrompt="1"/>
          </p:nvPr>
        </p:nvSpPr>
        <p:spPr>
          <a:xfrm>
            <a:off x="731021" y="2712659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第二部分标题请在这里填写</a:t>
            </a:r>
          </a:p>
        </p:txBody>
      </p:sp>
      <p:sp>
        <p:nvSpPr>
          <p:cNvPr id="31" name="文本占位符 29"/>
          <p:cNvSpPr>
            <a:spLocks noGrp="1"/>
          </p:cNvSpPr>
          <p:nvPr>
            <p:ph type="body" sz="quarter" idx="17" hasCustomPrompt="1"/>
          </p:nvPr>
        </p:nvSpPr>
        <p:spPr>
          <a:xfrm>
            <a:off x="731018" y="3982961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第四部分标题请在这里填写</a:t>
            </a:r>
          </a:p>
        </p:txBody>
      </p:sp>
      <p:sp>
        <p:nvSpPr>
          <p:cNvPr id="32" name="文本占位符 29"/>
          <p:cNvSpPr>
            <a:spLocks noGrp="1"/>
          </p:cNvSpPr>
          <p:nvPr>
            <p:ph type="body" sz="quarter" idx="18" hasCustomPrompt="1"/>
          </p:nvPr>
        </p:nvSpPr>
        <p:spPr>
          <a:xfrm>
            <a:off x="731018" y="4611847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第五部分标题请在这里填写</a:t>
            </a:r>
          </a:p>
        </p:txBody>
      </p:sp>
      <p:sp>
        <p:nvSpPr>
          <p:cNvPr id="34" name="灯片编号占位符 5"/>
          <p:cNvSpPr txBox="1"/>
          <p:nvPr userDrawn="1"/>
        </p:nvSpPr>
        <p:spPr>
          <a:xfrm>
            <a:off x="6470848" y="656262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mtClean="0">
                <a:solidFill>
                  <a:schemeClr val="bg1"/>
                </a:solidFill>
              </a:rPr>
              <a:t>‹#›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21"/>
          </p:nvPr>
        </p:nvSpPr>
        <p:spPr>
          <a:xfrm>
            <a:off x="8244408" y="6398609"/>
            <a:ext cx="442392" cy="365125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8194940" y="6669360"/>
            <a:ext cx="52669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3" descr="E:\工作2019\鹏华\PPT\0429\拆分\鹏华基金PPT 0429-2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7" t="35877" r="4758" b="24602"/>
          <a:stretch>
            <a:fillRect/>
          </a:stretch>
        </p:blipFill>
        <p:spPr bwMode="auto">
          <a:xfrm>
            <a:off x="6948264" y="260649"/>
            <a:ext cx="1760730" cy="39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接连接符 17"/>
          <p:cNvCxnSpPr/>
          <p:nvPr userDrawn="1"/>
        </p:nvCxnSpPr>
        <p:spPr>
          <a:xfrm>
            <a:off x="556423" y="720314"/>
            <a:ext cx="803026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7112500" y="720314"/>
            <a:ext cx="1491948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27"/>
          <p:cNvSpPr>
            <a:spLocks noGrp="1"/>
          </p:cNvSpPr>
          <p:nvPr>
            <p:ph type="body" sz="quarter" idx="22" hasCustomPrompt="1"/>
          </p:nvPr>
        </p:nvSpPr>
        <p:spPr>
          <a:xfrm>
            <a:off x="731021" y="2073769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第一部分标题请在这里填写</a:t>
            </a:r>
          </a:p>
        </p:txBody>
      </p:sp>
      <p:sp>
        <p:nvSpPr>
          <p:cNvPr id="21" name="文本占位符 27"/>
          <p:cNvSpPr>
            <a:spLocks noGrp="1"/>
          </p:cNvSpPr>
          <p:nvPr>
            <p:ph type="body" sz="quarter" idx="23" hasCustomPrompt="1"/>
          </p:nvPr>
        </p:nvSpPr>
        <p:spPr>
          <a:xfrm>
            <a:off x="731021" y="3347136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第三部分标题请在这里填写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占位符 27"/>
          <p:cNvSpPr>
            <a:spLocks noGrp="1"/>
          </p:cNvSpPr>
          <p:nvPr>
            <p:ph type="body" sz="quarter" idx="15" hasCustomPrompt="1"/>
          </p:nvPr>
        </p:nvSpPr>
        <p:spPr>
          <a:xfrm>
            <a:off x="731021" y="2712659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第二部分标题请在这里填写</a:t>
            </a:r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16" hasCustomPrompt="1"/>
          </p:nvPr>
        </p:nvSpPr>
        <p:spPr>
          <a:xfrm>
            <a:off x="731019" y="3344071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第三部分标题请在这里填写</a:t>
            </a:r>
          </a:p>
        </p:txBody>
      </p:sp>
      <p:sp>
        <p:nvSpPr>
          <p:cNvPr id="32" name="文本占位符 29"/>
          <p:cNvSpPr>
            <a:spLocks noGrp="1"/>
          </p:cNvSpPr>
          <p:nvPr>
            <p:ph type="body" sz="quarter" idx="18" hasCustomPrompt="1"/>
          </p:nvPr>
        </p:nvSpPr>
        <p:spPr>
          <a:xfrm>
            <a:off x="731018" y="4611847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第五部分标题请在这里填写</a:t>
            </a:r>
          </a:p>
        </p:txBody>
      </p:sp>
      <p:sp>
        <p:nvSpPr>
          <p:cNvPr id="34" name="灯片编号占位符 5"/>
          <p:cNvSpPr txBox="1"/>
          <p:nvPr userDrawn="1"/>
        </p:nvSpPr>
        <p:spPr>
          <a:xfrm>
            <a:off x="6470848" y="656262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mtClean="0">
                <a:solidFill>
                  <a:schemeClr val="bg1"/>
                </a:solidFill>
              </a:rPr>
              <a:t>‹#›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21"/>
          </p:nvPr>
        </p:nvSpPr>
        <p:spPr>
          <a:xfrm>
            <a:off x="8244408" y="6398609"/>
            <a:ext cx="442392" cy="365125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8194940" y="6669360"/>
            <a:ext cx="52669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3" descr="E:\工作2019\鹏华\PPT\0429\拆分\鹏华基金PPT 0429-2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7" t="35877" r="4758" b="24602"/>
          <a:stretch>
            <a:fillRect/>
          </a:stretch>
        </p:blipFill>
        <p:spPr bwMode="auto">
          <a:xfrm>
            <a:off x="6948264" y="260649"/>
            <a:ext cx="1760730" cy="39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接连接符 17"/>
          <p:cNvCxnSpPr/>
          <p:nvPr userDrawn="1"/>
        </p:nvCxnSpPr>
        <p:spPr>
          <a:xfrm>
            <a:off x="556423" y="720314"/>
            <a:ext cx="803026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7112500" y="720314"/>
            <a:ext cx="1491948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27"/>
          <p:cNvSpPr>
            <a:spLocks noGrp="1"/>
          </p:cNvSpPr>
          <p:nvPr>
            <p:ph type="body" sz="quarter" idx="22" hasCustomPrompt="1"/>
          </p:nvPr>
        </p:nvSpPr>
        <p:spPr>
          <a:xfrm>
            <a:off x="731021" y="2073769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第一部分标题请在这里填写</a:t>
            </a:r>
          </a:p>
        </p:txBody>
      </p:sp>
      <p:sp>
        <p:nvSpPr>
          <p:cNvPr id="21" name="文本占位符 27"/>
          <p:cNvSpPr>
            <a:spLocks noGrp="1"/>
          </p:cNvSpPr>
          <p:nvPr>
            <p:ph type="body" sz="quarter" idx="23" hasCustomPrompt="1"/>
          </p:nvPr>
        </p:nvSpPr>
        <p:spPr>
          <a:xfrm>
            <a:off x="731021" y="3979222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第四部分标题请在这里填写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占位符 27"/>
          <p:cNvSpPr>
            <a:spLocks noGrp="1"/>
          </p:cNvSpPr>
          <p:nvPr>
            <p:ph type="body" sz="quarter" idx="15" hasCustomPrompt="1"/>
          </p:nvPr>
        </p:nvSpPr>
        <p:spPr>
          <a:xfrm>
            <a:off x="731021" y="2712659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第二部分标题请在这里填写</a:t>
            </a:r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16" hasCustomPrompt="1"/>
          </p:nvPr>
        </p:nvSpPr>
        <p:spPr>
          <a:xfrm>
            <a:off x="731019" y="3344071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第三部分标题请在这里填写</a:t>
            </a:r>
          </a:p>
        </p:txBody>
      </p:sp>
      <p:sp>
        <p:nvSpPr>
          <p:cNvPr id="31" name="文本占位符 29"/>
          <p:cNvSpPr>
            <a:spLocks noGrp="1"/>
          </p:cNvSpPr>
          <p:nvPr>
            <p:ph type="body" sz="quarter" idx="17" hasCustomPrompt="1"/>
          </p:nvPr>
        </p:nvSpPr>
        <p:spPr>
          <a:xfrm>
            <a:off x="731018" y="3982961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第四部分标题请在这里填写</a:t>
            </a:r>
          </a:p>
        </p:txBody>
      </p:sp>
      <p:sp>
        <p:nvSpPr>
          <p:cNvPr id="34" name="灯片编号占位符 5"/>
          <p:cNvSpPr txBox="1"/>
          <p:nvPr userDrawn="1"/>
        </p:nvSpPr>
        <p:spPr>
          <a:xfrm>
            <a:off x="6470848" y="656262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mtClean="0">
                <a:solidFill>
                  <a:schemeClr val="bg1"/>
                </a:solidFill>
              </a:rPr>
              <a:t>‹#›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21"/>
          </p:nvPr>
        </p:nvSpPr>
        <p:spPr>
          <a:xfrm>
            <a:off x="8244408" y="6398609"/>
            <a:ext cx="442392" cy="365125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8194940" y="6669360"/>
            <a:ext cx="52669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3" descr="E:\工作2019\鹏华\PPT\0429\拆分\鹏华基金PPT 0429-2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7" t="35877" r="4758" b="24602"/>
          <a:stretch>
            <a:fillRect/>
          </a:stretch>
        </p:blipFill>
        <p:spPr bwMode="auto">
          <a:xfrm>
            <a:off x="6948264" y="260649"/>
            <a:ext cx="1760730" cy="39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接连接符 17"/>
          <p:cNvCxnSpPr/>
          <p:nvPr userDrawn="1"/>
        </p:nvCxnSpPr>
        <p:spPr>
          <a:xfrm>
            <a:off x="556423" y="720314"/>
            <a:ext cx="803026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7112500" y="720314"/>
            <a:ext cx="1491948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27"/>
          <p:cNvSpPr>
            <a:spLocks noGrp="1"/>
          </p:cNvSpPr>
          <p:nvPr>
            <p:ph type="body" sz="quarter" idx="22" hasCustomPrompt="1"/>
          </p:nvPr>
        </p:nvSpPr>
        <p:spPr>
          <a:xfrm>
            <a:off x="731021" y="2073769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第一部分标题请在这里填写</a:t>
            </a:r>
          </a:p>
        </p:txBody>
      </p:sp>
      <p:sp>
        <p:nvSpPr>
          <p:cNvPr id="21" name="文本占位符 27"/>
          <p:cNvSpPr>
            <a:spLocks noGrp="1"/>
          </p:cNvSpPr>
          <p:nvPr>
            <p:ph type="body" sz="quarter" idx="23" hasCustomPrompt="1"/>
          </p:nvPr>
        </p:nvSpPr>
        <p:spPr>
          <a:xfrm>
            <a:off x="731021" y="4614373"/>
            <a:ext cx="5137122" cy="369332"/>
          </a:xfrm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第五部分标题请在这里填写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35"/>
          <p:cNvSpPr>
            <a:spLocks noGrp="1"/>
          </p:cNvSpPr>
          <p:nvPr>
            <p:ph type="title" hasCustomPrompt="1"/>
          </p:nvPr>
        </p:nvSpPr>
        <p:spPr>
          <a:xfrm>
            <a:off x="557308" y="217846"/>
            <a:ext cx="6174932" cy="400110"/>
          </a:xfrm>
        </p:spPr>
        <p:txBody>
          <a:bodyPr wrap="square" anchor="t">
            <a:spAutoFit/>
          </a:bodyPr>
          <a:lstStyle>
            <a:lvl1pPr algn="l">
              <a:defRPr sz="20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10" hasCustomPrompt="1"/>
          </p:nvPr>
        </p:nvSpPr>
        <p:spPr>
          <a:xfrm>
            <a:off x="750640" y="984806"/>
            <a:ext cx="7636111" cy="338554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单击此处添加文本</a:t>
            </a:r>
          </a:p>
        </p:txBody>
      </p:sp>
      <p:sp>
        <p:nvSpPr>
          <p:cNvPr id="43" name="文本占位符 37"/>
          <p:cNvSpPr>
            <a:spLocks noGrp="1"/>
          </p:cNvSpPr>
          <p:nvPr>
            <p:ph type="body" sz="quarter" idx="11" hasCustomPrompt="1"/>
          </p:nvPr>
        </p:nvSpPr>
        <p:spPr>
          <a:xfrm>
            <a:off x="833644" y="2993293"/>
            <a:ext cx="1261884" cy="701731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添加文案</a:t>
            </a:r>
          </a:p>
        </p:txBody>
      </p:sp>
      <p:sp>
        <p:nvSpPr>
          <p:cNvPr id="45" name="文本占位符 37"/>
          <p:cNvSpPr>
            <a:spLocks noGrp="1"/>
          </p:cNvSpPr>
          <p:nvPr>
            <p:ph type="body" sz="quarter" idx="12" hasCustomPrompt="1"/>
          </p:nvPr>
        </p:nvSpPr>
        <p:spPr>
          <a:xfrm>
            <a:off x="2907330" y="2993293"/>
            <a:ext cx="1261884" cy="701731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添加文案</a:t>
            </a:r>
          </a:p>
        </p:txBody>
      </p:sp>
      <p:sp>
        <p:nvSpPr>
          <p:cNvPr id="46" name="文本占位符 37"/>
          <p:cNvSpPr>
            <a:spLocks noGrp="1"/>
          </p:cNvSpPr>
          <p:nvPr>
            <p:ph type="body" sz="quarter" idx="13" hasCustomPrompt="1"/>
          </p:nvPr>
        </p:nvSpPr>
        <p:spPr>
          <a:xfrm>
            <a:off x="4974783" y="2993293"/>
            <a:ext cx="1261884" cy="701731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添加文案</a:t>
            </a:r>
          </a:p>
        </p:txBody>
      </p:sp>
      <p:sp>
        <p:nvSpPr>
          <p:cNvPr id="47" name="文本占位符 37"/>
          <p:cNvSpPr>
            <a:spLocks noGrp="1"/>
          </p:cNvSpPr>
          <p:nvPr>
            <p:ph type="body" sz="quarter" idx="14" hasCustomPrompt="1"/>
          </p:nvPr>
        </p:nvSpPr>
        <p:spPr>
          <a:xfrm>
            <a:off x="7042236" y="2993293"/>
            <a:ext cx="1261884" cy="701731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添加文案</a:t>
            </a:r>
          </a:p>
        </p:txBody>
      </p:sp>
      <p:sp>
        <p:nvSpPr>
          <p:cNvPr id="48" name="文本占位符 37"/>
          <p:cNvSpPr>
            <a:spLocks noGrp="1"/>
          </p:cNvSpPr>
          <p:nvPr>
            <p:ph type="body" sz="quarter" idx="15" hasCustomPrompt="1"/>
          </p:nvPr>
        </p:nvSpPr>
        <p:spPr>
          <a:xfrm>
            <a:off x="833644" y="4803110"/>
            <a:ext cx="1261884" cy="56630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添加文案</a:t>
            </a:r>
          </a:p>
        </p:txBody>
      </p:sp>
      <p:sp>
        <p:nvSpPr>
          <p:cNvPr id="49" name="文本占位符 37"/>
          <p:cNvSpPr>
            <a:spLocks noGrp="1"/>
          </p:cNvSpPr>
          <p:nvPr>
            <p:ph type="body" sz="quarter" idx="16" hasCustomPrompt="1"/>
          </p:nvPr>
        </p:nvSpPr>
        <p:spPr>
          <a:xfrm>
            <a:off x="2907330" y="4803110"/>
            <a:ext cx="1261884" cy="56630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添加文案</a:t>
            </a:r>
          </a:p>
        </p:txBody>
      </p:sp>
      <p:sp>
        <p:nvSpPr>
          <p:cNvPr id="50" name="文本占位符 37"/>
          <p:cNvSpPr>
            <a:spLocks noGrp="1"/>
          </p:cNvSpPr>
          <p:nvPr>
            <p:ph type="body" sz="quarter" idx="17" hasCustomPrompt="1"/>
          </p:nvPr>
        </p:nvSpPr>
        <p:spPr>
          <a:xfrm>
            <a:off x="4974783" y="4803110"/>
            <a:ext cx="1261884" cy="56630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添加文案</a:t>
            </a:r>
          </a:p>
        </p:txBody>
      </p:sp>
      <p:sp>
        <p:nvSpPr>
          <p:cNvPr id="51" name="文本占位符 37"/>
          <p:cNvSpPr>
            <a:spLocks noGrp="1"/>
          </p:cNvSpPr>
          <p:nvPr>
            <p:ph type="body" sz="quarter" idx="18" hasCustomPrompt="1"/>
          </p:nvPr>
        </p:nvSpPr>
        <p:spPr>
          <a:xfrm>
            <a:off x="7042236" y="4803110"/>
            <a:ext cx="1261884" cy="566309"/>
          </a:xfrm>
        </p:spPr>
        <p:txBody>
          <a:bodyPr wrap="square" anchor="ctr">
            <a:sp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添加文案</a:t>
            </a:r>
          </a:p>
        </p:txBody>
      </p:sp>
      <p:sp>
        <p:nvSpPr>
          <p:cNvPr id="17" name="灯片编号占位符 3"/>
          <p:cNvSpPr>
            <a:spLocks noGrp="1"/>
          </p:cNvSpPr>
          <p:nvPr>
            <p:ph type="sldNum" sz="quarter" idx="21"/>
          </p:nvPr>
        </p:nvSpPr>
        <p:spPr>
          <a:xfrm>
            <a:off x="8244408" y="6398609"/>
            <a:ext cx="442392" cy="365125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8194940" y="6669360"/>
            <a:ext cx="52669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占位符 37"/>
          <p:cNvSpPr>
            <a:spLocks noGrp="1"/>
          </p:cNvSpPr>
          <p:nvPr>
            <p:ph type="body" sz="quarter" idx="22" hasCustomPrompt="1"/>
          </p:nvPr>
        </p:nvSpPr>
        <p:spPr>
          <a:xfrm>
            <a:off x="750640" y="1445153"/>
            <a:ext cx="7636111" cy="377026"/>
          </a:xfrm>
        </p:spPr>
        <p:txBody>
          <a:bodyPr wrap="square" anchor="t">
            <a:spAutoFit/>
          </a:bodyPr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单击此处添加文本</a:t>
            </a:r>
          </a:p>
        </p:txBody>
      </p:sp>
      <p:pic>
        <p:nvPicPr>
          <p:cNvPr id="15" name="Picture 3" descr="E:\工作2019\鹏华\PPT\0429\拆分\鹏华基金PPT 0429-2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7" t="35877" r="4758" b="24602"/>
          <a:stretch>
            <a:fillRect/>
          </a:stretch>
        </p:blipFill>
        <p:spPr bwMode="auto">
          <a:xfrm>
            <a:off x="6948264" y="260649"/>
            <a:ext cx="1760730" cy="39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直接连接符 15"/>
          <p:cNvCxnSpPr/>
          <p:nvPr userDrawn="1"/>
        </p:nvCxnSpPr>
        <p:spPr>
          <a:xfrm>
            <a:off x="556423" y="720314"/>
            <a:ext cx="803026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7112500" y="720314"/>
            <a:ext cx="1491948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 userDrawn="1"/>
        </p:nvSpPr>
        <p:spPr>
          <a:xfrm>
            <a:off x="562331" y="968345"/>
            <a:ext cx="142875" cy="371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35"/>
          <p:cNvSpPr>
            <a:spLocks noGrp="1"/>
          </p:cNvSpPr>
          <p:nvPr>
            <p:ph type="title" hasCustomPrompt="1"/>
          </p:nvPr>
        </p:nvSpPr>
        <p:spPr>
          <a:xfrm>
            <a:off x="557308" y="217846"/>
            <a:ext cx="6174932" cy="400110"/>
          </a:xfrm>
        </p:spPr>
        <p:txBody>
          <a:bodyPr wrap="square" anchor="t">
            <a:spAutoFit/>
          </a:bodyPr>
          <a:lstStyle>
            <a:lvl1pPr algn="l">
              <a:defRPr sz="20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1"/>
          </p:nvPr>
        </p:nvSpPr>
        <p:spPr>
          <a:xfrm>
            <a:off x="750640" y="1988840"/>
            <a:ext cx="7636114" cy="4174261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7" name="文本占位符 37"/>
          <p:cNvSpPr>
            <a:spLocks noGrp="1"/>
          </p:cNvSpPr>
          <p:nvPr>
            <p:ph type="body" sz="quarter" idx="10" hasCustomPrompt="1"/>
          </p:nvPr>
        </p:nvSpPr>
        <p:spPr>
          <a:xfrm>
            <a:off x="750640" y="984806"/>
            <a:ext cx="7636114" cy="338554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单击此处添加文本</a:t>
            </a:r>
          </a:p>
        </p:txBody>
      </p:sp>
      <p:sp>
        <p:nvSpPr>
          <p:cNvPr id="9" name="文本占位符 37"/>
          <p:cNvSpPr>
            <a:spLocks noGrp="1"/>
          </p:cNvSpPr>
          <p:nvPr>
            <p:ph type="body" sz="quarter" idx="12" hasCustomPrompt="1"/>
          </p:nvPr>
        </p:nvSpPr>
        <p:spPr>
          <a:xfrm>
            <a:off x="750640" y="1445153"/>
            <a:ext cx="7636114" cy="377026"/>
          </a:xfrm>
        </p:spPr>
        <p:txBody>
          <a:bodyPr wrap="square" anchor="t">
            <a:spAutoFit/>
          </a:bodyPr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单击此处添加文本</a:t>
            </a: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21"/>
          </p:nvPr>
        </p:nvSpPr>
        <p:spPr>
          <a:xfrm>
            <a:off x="8244408" y="6398609"/>
            <a:ext cx="442392" cy="365125"/>
          </a:xfrm>
        </p:spPr>
        <p:txBody>
          <a:bodyPr vert="horz" lIns="91440" tIns="45720" rIns="91440" bIns="45720" rtlCol="0" anchor="ctr"/>
          <a:lstStyle>
            <a:lvl1pPr algn="ctr">
              <a:defRPr lang="zh-CN" altLang="en-US" smtClean="0"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en-US" altLang="zh-CN" smtClean="0"/>
              <a:t>‹#›</a:t>
            </a:fld>
            <a:endParaRPr lang="en-US" altLang="zh-CN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8194940" y="6669360"/>
            <a:ext cx="52669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3" descr="E:\工作2019\鹏华\PPT\0429\拆分\鹏华基金PPT 0429-2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7" t="35877" r="4758" b="24602"/>
          <a:stretch>
            <a:fillRect/>
          </a:stretch>
        </p:blipFill>
        <p:spPr bwMode="auto">
          <a:xfrm>
            <a:off x="6948264" y="260649"/>
            <a:ext cx="1760730" cy="39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9"/>
          <p:cNvCxnSpPr/>
          <p:nvPr userDrawn="1"/>
        </p:nvCxnSpPr>
        <p:spPr>
          <a:xfrm>
            <a:off x="556423" y="720314"/>
            <a:ext cx="803026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7112500" y="720314"/>
            <a:ext cx="1491948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 userDrawn="1"/>
        </p:nvSpPr>
        <p:spPr>
          <a:xfrm>
            <a:off x="562331" y="968345"/>
            <a:ext cx="142875" cy="371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35"/>
          <p:cNvSpPr>
            <a:spLocks noGrp="1"/>
          </p:cNvSpPr>
          <p:nvPr>
            <p:ph type="title" hasCustomPrompt="1"/>
          </p:nvPr>
        </p:nvSpPr>
        <p:spPr>
          <a:xfrm>
            <a:off x="557308" y="217846"/>
            <a:ext cx="6174932" cy="400110"/>
          </a:xfrm>
        </p:spPr>
        <p:txBody>
          <a:bodyPr wrap="square" anchor="t">
            <a:spAutoFit/>
          </a:bodyPr>
          <a:lstStyle>
            <a:lvl1pPr algn="l">
              <a:defRPr sz="20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3" name="文本占位符 37"/>
          <p:cNvSpPr>
            <a:spLocks noGrp="1"/>
          </p:cNvSpPr>
          <p:nvPr>
            <p:ph type="body" sz="quarter" idx="12" hasCustomPrompt="1"/>
          </p:nvPr>
        </p:nvSpPr>
        <p:spPr>
          <a:xfrm>
            <a:off x="772442" y="2772368"/>
            <a:ext cx="1421150" cy="338554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6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单击添加文案</a:t>
            </a:r>
          </a:p>
        </p:txBody>
      </p:sp>
      <p:sp>
        <p:nvSpPr>
          <p:cNvPr id="64" name="文本占位符 37"/>
          <p:cNvSpPr>
            <a:spLocks noGrp="1"/>
          </p:cNvSpPr>
          <p:nvPr>
            <p:ph type="body" sz="quarter" idx="13" hasCustomPrompt="1"/>
          </p:nvPr>
        </p:nvSpPr>
        <p:spPr>
          <a:xfrm>
            <a:off x="2832971" y="2772368"/>
            <a:ext cx="1421150" cy="338554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6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单击添加文案</a:t>
            </a:r>
          </a:p>
        </p:txBody>
      </p:sp>
      <p:sp>
        <p:nvSpPr>
          <p:cNvPr id="65" name="文本占位符 37"/>
          <p:cNvSpPr>
            <a:spLocks noGrp="1"/>
          </p:cNvSpPr>
          <p:nvPr>
            <p:ph type="body" sz="quarter" idx="14" hasCustomPrompt="1"/>
          </p:nvPr>
        </p:nvSpPr>
        <p:spPr>
          <a:xfrm>
            <a:off x="4893500" y="2772368"/>
            <a:ext cx="1421150" cy="338554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6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单击添加文案</a:t>
            </a:r>
          </a:p>
        </p:txBody>
      </p:sp>
      <p:sp>
        <p:nvSpPr>
          <p:cNvPr id="66" name="文本占位符 37"/>
          <p:cNvSpPr>
            <a:spLocks noGrp="1"/>
          </p:cNvSpPr>
          <p:nvPr>
            <p:ph type="body" sz="quarter" idx="15" hasCustomPrompt="1"/>
          </p:nvPr>
        </p:nvSpPr>
        <p:spPr>
          <a:xfrm>
            <a:off x="6954029" y="2772368"/>
            <a:ext cx="1421150" cy="338554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6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单击添加文案</a:t>
            </a:r>
          </a:p>
        </p:txBody>
      </p:sp>
      <p:sp>
        <p:nvSpPr>
          <p:cNvPr id="67" name="文本占位符 37"/>
          <p:cNvSpPr>
            <a:spLocks noGrp="1"/>
          </p:cNvSpPr>
          <p:nvPr>
            <p:ph type="body" sz="quarter" idx="16" hasCustomPrompt="1"/>
          </p:nvPr>
        </p:nvSpPr>
        <p:spPr>
          <a:xfrm>
            <a:off x="772442" y="3254653"/>
            <a:ext cx="1421150" cy="276999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单击添加文案</a:t>
            </a:r>
          </a:p>
        </p:txBody>
      </p:sp>
      <p:sp>
        <p:nvSpPr>
          <p:cNvPr id="68" name="文本占位符 37"/>
          <p:cNvSpPr>
            <a:spLocks noGrp="1"/>
          </p:cNvSpPr>
          <p:nvPr>
            <p:ph type="body" sz="quarter" idx="17" hasCustomPrompt="1"/>
          </p:nvPr>
        </p:nvSpPr>
        <p:spPr>
          <a:xfrm>
            <a:off x="2832971" y="3254653"/>
            <a:ext cx="1421150" cy="276999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单击添加文案</a:t>
            </a:r>
          </a:p>
        </p:txBody>
      </p:sp>
      <p:sp>
        <p:nvSpPr>
          <p:cNvPr id="69" name="文本占位符 37"/>
          <p:cNvSpPr>
            <a:spLocks noGrp="1"/>
          </p:cNvSpPr>
          <p:nvPr>
            <p:ph type="body" sz="quarter" idx="18" hasCustomPrompt="1"/>
          </p:nvPr>
        </p:nvSpPr>
        <p:spPr>
          <a:xfrm>
            <a:off x="4893500" y="3254653"/>
            <a:ext cx="1421150" cy="276999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单击添加文案</a:t>
            </a:r>
          </a:p>
        </p:txBody>
      </p:sp>
      <p:sp>
        <p:nvSpPr>
          <p:cNvPr id="70" name="文本占位符 37"/>
          <p:cNvSpPr>
            <a:spLocks noGrp="1"/>
          </p:cNvSpPr>
          <p:nvPr>
            <p:ph type="body" sz="quarter" idx="19" hasCustomPrompt="1"/>
          </p:nvPr>
        </p:nvSpPr>
        <p:spPr>
          <a:xfrm>
            <a:off x="6954029" y="3254653"/>
            <a:ext cx="1421150" cy="276999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单击添加文案</a:t>
            </a:r>
          </a:p>
        </p:txBody>
      </p:sp>
      <p:sp>
        <p:nvSpPr>
          <p:cNvPr id="71" name="文本占位符 37"/>
          <p:cNvSpPr>
            <a:spLocks noGrp="1"/>
          </p:cNvSpPr>
          <p:nvPr>
            <p:ph type="body" sz="quarter" idx="20" hasCustomPrompt="1"/>
          </p:nvPr>
        </p:nvSpPr>
        <p:spPr>
          <a:xfrm>
            <a:off x="772442" y="3577344"/>
            <a:ext cx="1421150" cy="400110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100%</a:t>
            </a:r>
            <a:endParaRPr lang="zh-CN" altLang="en-US" dirty="0"/>
          </a:p>
        </p:txBody>
      </p:sp>
      <p:sp>
        <p:nvSpPr>
          <p:cNvPr id="75" name="文本占位符 37"/>
          <p:cNvSpPr>
            <a:spLocks noGrp="1"/>
          </p:cNvSpPr>
          <p:nvPr>
            <p:ph type="body" sz="quarter" idx="24" hasCustomPrompt="1"/>
          </p:nvPr>
        </p:nvSpPr>
        <p:spPr>
          <a:xfrm>
            <a:off x="772442" y="4253682"/>
            <a:ext cx="1421150" cy="276999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200" b="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单击添加文案</a:t>
            </a:r>
          </a:p>
        </p:txBody>
      </p:sp>
      <p:sp>
        <p:nvSpPr>
          <p:cNvPr id="76" name="文本占位符 37"/>
          <p:cNvSpPr>
            <a:spLocks noGrp="1"/>
          </p:cNvSpPr>
          <p:nvPr>
            <p:ph type="body" sz="quarter" idx="25" hasCustomPrompt="1"/>
          </p:nvPr>
        </p:nvSpPr>
        <p:spPr>
          <a:xfrm>
            <a:off x="2832971" y="4253682"/>
            <a:ext cx="1421150" cy="276999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200" b="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单击添加文案</a:t>
            </a:r>
          </a:p>
        </p:txBody>
      </p:sp>
      <p:sp>
        <p:nvSpPr>
          <p:cNvPr id="77" name="文本占位符 37"/>
          <p:cNvSpPr>
            <a:spLocks noGrp="1"/>
          </p:cNvSpPr>
          <p:nvPr>
            <p:ph type="body" sz="quarter" idx="26" hasCustomPrompt="1"/>
          </p:nvPr>
        </p:nvSpPr>
        <p:spPr>
          <a:xfrm>
            <a:off x="4893500" y="4253682"/>
            <a:ext cx="1421150" cy="276999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200" b="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单击添加文案</a:t>
            </a:r>
          </a:p>
        </p:txBody>
      </p:sp>
      <p:sp>
        <p:nvSpPr>
          <p:cNvPr id="78" name="文本占位符 37"/>
          <p:cNvSpPr>
            <a:spLocks noGrp="1"/>
          </p:cNvSpPr>
          <p:nvPr>
            <p:ph type="body" sz="quarter" idx="27" hasCustomPrompt="1"/>
          </p:nvPr>
        </p:nvSpPr>
        <p:spPr>
          <a:xfrm>
            <a:off x="6954029" y="4253682"/>
            <a:ext cx="1421150" cy="276999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200" b="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单击添加文案</a:t>
            </a:r>
          </a:p>
        </p:txBody>
      </p:sp>
      <p:sp>
        <p:nvSpPr>
          <p:cNvPr id="79" name="文本占位符 37"/>
          <p:cNvSpPr>
            <a:spLocks noGrp="1"/>
          </p:cNvSpPr>
          <p:nvPr>
            <p:ph type="body" sz="quarter" idx="28" hasCustomPrompt="1"/>
          </p:nvPr>
        </p:nvSpPr>
        <p:spPr>
          <a:xfrm>
            <a:off x="772442" y="4658003"/>
            <a:ext cx="1421150" cy="276999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单击添加文案</a:t>
            </a:r>
          </a:p>
        </p:txBody>
      </p:sp>
      <p:sp>
        <p:nvSpPr>
          <p:cNvPr id="80" name="文本占位符 37"/>
          <p:cNvSpPr>
            <a:spLocks noGrp="1"/>
          </p:cNvSpPr>
          <p:nvPr>
            <p:ph type="body" sz="quarter" idx="29" hasCustomPrompt="1"/>
          </p:nvPr>
        </p:nvSpPr>
        <p:spPr>
          <a:xfrm>
            <a:off x="2832971" y="4658003"/>
            <a:ext cx="1421150" cy="276999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单击添加文案</a:t>
            </a:r>
          </a:p>
        </p:txBody>
      </p:sp>
      <p:sp>
        <p:nvSpPr>
          <p:cNvPr id="81" name="文本占位符 37"/>
          <p:cNvSpPr>
            <a:spLocks noGrp="1"/>
          </p:cNvSpPr>
          <p:nvPr>
            <p:ph type="body" sz="quarter" idx="30" hasCustomPrompt="1"/>
          </p:nvPr>
        </p:nvSpPr>
        <p:spPr>
          <a:xfrm>
            <a:off x="4893500" y="4658003"/>
            <a:ext cx="1421150" cy="276999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单击添加文案</a:t>
            </a:r>
          </a:p>
        </p:txBody>
      </p:sp>
      <p:sp>
        <p:nvSpPr>
          <p:cNvPr id="82" name="文本占位符 37"/>
          <p:cNvSpPr>
            <a:spLocks noGrp="1"/>
          </p:cNvSpPr>
          <p:nvPr>
            <p:ph type="body" sz="quarter" idx="31" hasCustomPrompt="1"/>
          </p:nvPr>
        </p:nvSpPr>
        <p:spPr>
          <a:xfrm>
            <a:off x="6954029" y="4658003"/>
            <a:ext cx="1421150" cy="276999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12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单击添加文案</a:t>
            </a:r>
          </a:p>
        </p:txBody>
      </p:sp>
      <p:sp>
        <p:nvSpPr>
          <p:cNvPr id="83" name="文本占位符 37"/>
          <p:cNvSpPr>
            <a:spLocks noGrp="1"/>
          </p:cNvSpPr>
          <p:nvPr>
            <p:ph type="body" sz="quarter" idx="32" hasCustomPrompt="1"/>
          </p:nvPr>
        </p:nvSpPr>
        <p:spPr>
          <a:xfrm>
            <a:off x="2832971" y="3577344"/>
            <a:ext cx="1421150" cy="400110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100%</a:t>
            </a:r>
            <a:endParaRPr lang="zh-CN" altLang="en-US" dirty="0"/>
          </a:p>
        </p:txBody>
      </p:sp>
      <p:sp>
        <p:nvSpPr>
          <p:cNvPr id="84" name="文本占位符 37"/>
          <p:cNvSpPr>
            <a:spLocks noGrp="1"/>
          </p:cNvSpPr>
          <p:nvPr>
            <p:ph type="body" sz="quarter" idx="33" hasCustomPrompt="1"/>
          </p:nvPr>
        </p:nvSpPr>
        <p:spPr>
          <a:xfrm>
            <a:off x="4889881" y="3587686"/>
            <a:ext cx="1421150" cy="400110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100%</a:t>
            </a:r>
            <a:endParaRPr lang="zh-CN" altLang="en-US" dirty="0"/>
          </a:p>
        </p:txBody>
      </p:sp>
      <p:sp>
        <p:nvSpPr>
          <p:cNvPr id="85" name="文本占位符 37"/>
          <p:cNvSpPr>
            <a:spLocks noGrp="1"/>
          </p:cNvSpPr>
          <p:nvPr>
            <p:ph type="body" sz="quarter" idx="34" hasCustomPrompt="1"/>
          </p:nvPr>
        </p:nvSpPr>
        <p:spPr>
          <a:xfrm>
            <a:off x="6954029" y="3577344"/>
            <a:ext cx="1421150" cy="400110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100%</a:t>
            </a:r>
            <a:endParaRPr lang="zh-CN" altLang="en-US" dirty="0"/>
          </a:p>
        </p:txBody>
      </p:sp>
      <p:sp>
        <p:nvSpPr>
          <p:cNvPr id="27" name="文本占位符 37"/>
          <p:cNvSpPr>
            <a:spLocks noGrp="1"/>
          </p:cNvSpPr>
          <p:nvPr>
            <p:ph type="body" sz="quarter" idx="10" hasCustomPrompt="1"/>
          </p:nvPr>
        </p:nvSpPr>
        <p:spPr>
          <a:xfrm>
            <a:off x="750640" y="984806"/>
            <a:ext cx="7624539" cy="338554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单击此处添加文本</a:t>
            </a:r>
          </a:p>
        </p:txBody>
      </p:sp>
      <p:sp>
        <p:nvSpPr>
          <p:cNvPr id="28" name="文本占位符 37"/>
          <p:cNvSpPr>
            <a:spLocks noGrp="1"/>
          </p:cNvSpPr>
          <p:nvPr>
            <p:ph type="body" sz="quarter" idx="35" hasCustomPrompt="1"/>
          </p:nvPr>
        </p:nvSpPr>
        <p:spPr>
          <a:xfrm>
            <a:off x="750640" y="1445153"/>
            <a:ext cx="7624539" cy="377026"/>
          </a:xfrm>
        </p:spPr>
        <p:txBody>
          <a:bodyPr wrap="square" anchor="t">
            <a:spAutoFit/>
          </a:bodyPr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单击此处添加文本</a:t>
            </a:r>
          </a:p>
        </p:txBody>
      </p:sp>
      <p:sp>
        <p:nvSpPr>
          <p:cNvPr id="29" name="灯片编号占位符 3"/>
          <p:cNvSpPr>
            <a:spLocks noGrp="1"/>
          </p:cNvSpPr>
          <p:nvPr>
            <p:ph type="sldNum" sz="quarter" idx="21"/>
          </p:nvPr>
        </p:nvSpPr>
        <p:spPr>
          <a:xfrm>
            <a:off x="8244408" y="6398609"/>
            <a:ext cx="442392" cy="365125"/>
          </a:xfrm>
        </p:spPr>
        <p:txBody>
          <a:bodyPr vert="horz" lIns="91440" tIns="45720" rIns="91440" bIns="45720" rtlCol="0" anchor="ctr"/>
          <a:lstStyle>
            <a:lvl1pPr algn="ctr">
              <a:defRPr lang="zh-CN" altLang="en-US" smtClean="0"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en-US" altLang="zh-CN" smtClean="0"/>
              <a:t>‹#›</a:t>
            </a:fld>
            <a:endParaRPr lang="en-US" altLang="zh-CN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8194940" y="6669360"/>
            <a:ext cx="52669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" descr="E:\工作2019\鹏华\PPT\0429\拆分\鹏华基金PPT 0429-2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7" t="35877" r="4758" b="24602"/>
          <a:stretch>
            <a:fillRect/>
          </a:stretch>
        </p:blipFill>
        <p:spPr bwMode="auto">
          <a:xfrm>
            <a:off x="6948264" y="260649"/>
            <a:ext cx="1760730" cy="39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" name="直接连接符 31"/>
          <p:cNvCxnSpPr/>
          <p:nvPr userDrawn="1"/>
        </p:nvCxnSpPr>
        <p:spPr>
          <a:xfrm>
            <a:off x="556423" y="720314"/>
            <a:ext cx="803026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/>
        </p:nvCxnSpPr>
        <p:spPr>
          <a:xfrm>
            <a:off x="7112500" y="720314"/>
            <a:ext cx="1491948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 userDrawn="1"/>
        </p:nvSpPr>
        <p:spPr>
          <a:xfrm>
            <a:off x="562331" y="968345"/>
            <a:ext cx="142875" cy="371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5"/>
          <p:cNvSpPr txBox="1"/>
          <p:nvPr userDrawn="1"/>
        </p:nvSpPr>
        <p:spPr>
          <a:xfrm>
            <a:off x="6470848" y="656262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mtClean="0">
                <a:solidFill>
                  <a:schemeClr val="bg1"/>
                </a:solidFill>
              </a:rPr>
              <a:t>‹#›</a:t>
            </a:fld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6" name="标题 35"/>
          <p:cNvSpPr>
            <a:spLocks noGrp="1"/>
          </p:cNvSpPr>
          <p:nvPr>
            <p:ph type="title" hasCustomPrompt="1"/>
          </p:nvPr>
        </p:nvSpPr>
        <p:spPr>
          <a:xfrm>
            <a:off x="557308" y="217846"/>
            <a:ext cx="6174932" cy="400110"/>
          </a:xfrm>
        </p:spPr>
        <p:txBody>
          <a:bodyPr wrap="square" anchor="t">
            <a:spAutoFit/>
          </a:bodyPr>
          <a:lstStyle>
            <a:lvl1pPr algn="l">
              <a:defRPr sz="20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sz="quarter" idx="11"/>
          </p:nvPr>
        </p:nvSpPr>
        <p:spPr>
          <a:xfrm>
            <a:off x="750888" y="1979472"/>
            <a:ext cx="7635866" cy="353776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文本占位符 37"/>
          <p:cNvSpPr>
            <a:spLocks noGrp="1"/>
          </p:cNvSpPr>
          <p:nvPr>
            <p:ph type="body" sz="quarter" idx="12" hasCustomPrompt="1"/>
          </p:nvPr>
        </p:nvSpPr>
        <p:spPr>
          <a:xfrm>
            <a:off x="750640" y="5685983"/>
            <a:ext cx="7635866" cy="276999"/>
          </a:xfrm>
        </p:spPr>
        <p:txBody>
          <a:bodyPr wrap="square" anchor="t">
            <a:spAutoFit/>
          </a:bodyPr>
          <a:lstStyle>
            <a:lvl1pPr marL="171450" indent="-171450">
              <a:buFont typeface="Wingdings" panose="05000000000000000000" pitchFamily="2" charset="2"/>
              <a:buChar char="Ø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单击此处添加注释</a:t>
            </a:r>
          </a:p>
        </p:txBody>
      </p:sp>
      <p:sp>
        <p:nvSpPr>
          <p:cNvPr id="9" name="文本占位符 37"/>
          <p:cNvSpPr>
            <a:spLocks noGrp="1"/>
          </p:cNvSpPr>
          <p:nvPr>
            <p:ph type="body" sz="quarter" idx="10" hasCustomPrompt="1"/>
          </p:nvPr>
        </p:nvSpPr>
        <p:spPr>
          <a:xfrm>
            <a:off x="750640" y="984806"/>
            <a:ext cx="7635866" cy="338554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单击此处添加文本</a:t>
            </a:r>
          </a:p>
        </p:txBody>
      </p:sp>
      <p:sp>
        <p:nvSpPr>
          <p:cNvPr id="10" name="文本占位符 37"/>
          <p:cNvSpPr>
            <a:spLocks noGrp="1"/>
          </p:cNvSpPr>
          <p:nvPr>
            <p:ph type="body" sz="quarter" idx="35" hasCustomPrompt="1"/>
          </p:nvPr>
        </p:nvSpPr>
        <p:spPr>
          <a:xfrm>
            <a:off x="750640" y="1445153"/>
            <a:ext cx="7635866" cy="377026"/>
          </a:xfrm>
        </p:spPr>
        <p:txBody>
          <a:bodyPr wrap="square" anchor="t">
            <a:spAutoFit/>
          </a:bodyPr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单击此处添加文本</a:t>
            </a: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21"/>
          </p:nvPr>
        </p:nvSpPr>
        <p:spPr>
          <a:xfrm>
            <a:off x="8244408" y="6398609"/>
            <a:ext cx="442392" cy="365125"/>
          </a:xfrm>
        </p:spPr>
        <p:txBody>
          <a:bodyPr vert="horz" lIns="91440" tIns="45720" rIns="91440" bIns="45720" rtlCol="0" anchor="ctr"/>
          <a:lstStyle>
            <a:lvl1pPr algn="ctr">
              <a:defRPr lang="zh-CN" altLang="en-US" smtClean="0"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en-US" altLang="zh-CN" smtClean="0"/>
              <a:t>‹#›</a:t>
            </a:fld>
            <a:endParaRPr lang="en-US" altLang="zh-CN"/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8194940" y="6669360"/>
            <a:ext cx="52669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3" descr="E:\工作2019\鹏华\PPT\0429\拆分\鹏华基金PPT 0429-2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7" t="35877" r="4758" b="24602"/>
          <a:stretch>
            <a:fillRect/>
          </a:stretch>
        </p:blipFill>
        <p:spPr bwMode="auto">
          <a:xfrm>
            <a:off x="6948264" y="260649"/>
            <a:ext cx="1760730" cy="39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直接连接符 14"/>
          <p:cNvCxnSpPr/>
          <p:nvPr userDrawn="1"/>
        </p:nvCxnSpPr>
        <p:spPr>
          <a:xfrm>
            <a:off x="556423" y="720314"/>
            <a:ext cx="803026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7112500" y="720314"/>
            <a:ext cx="1491948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62331" y="968345"/>
            <a:ext cx="142875" cy="371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35"/>
          <p:cNvSpPr>
            <a:spLocks noGrp="1"/>
          </p:cNvSpPr>
          <p:nvPr>
            <p:ph type="title" hasCustomPrompt="1"/>
          </p:nvPr>
        </p:nvSpPr>
        <p:spPr>
          <a:xfrm>
            <a:off x="557308" y="217846"/>
            <a:ext cx="6174932" cy="400110"/>
          </a:xfrm>
        </p:spPr>
        <p:txBody>
          <a:bodyPr wrap="square" anchor="t">
            <a:spAutoFit/>
          </a:bodyPr>
          <a:lstStyle>
            <a:lvl1pPr algn="l">
              <a:defRPr sz="20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9" name="内容占位符 3"/>
          <p:cNvSpPr>
            <a:spLocks noGrp="1"/>
          </p:cNvSpPr>
          <p:nvPr>
            <p:ph sz="quarter" idx="11"/>
          </p:nvPr>
        </p:nvSpPr>
        <p:spPr>
          <a:xfrm>
            <a:off x="750640" y="1979471"/>
            <a:ext cx="3715406" cy="35630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文本占位符 37"/>
          <p:cNvSpPr>
            <a:spLocks noGrp="1"/>
          </p:cNvSpPr>
          <p:nvPr>
            <p:ph type="body" sz="quarter" idx="12" hasCustomPrompt="1"/>
          </p:nvPr>
        </p:nvSpPr>
        <p:spPr>
          <a:xfrm>
            <a:off x="750640" y="5685983"/>
            <a:ext cx="3715406" cy="276999"/>
          </a:xfrm>
        </p:spPr>
        <p:txBody>
          <a:bodyPr wrap="square" anchor="t">
            <a:spAutoFit/>
          </a:bodyPr>
          <a:lstStyle>
            <a:lvl1pPr marL="171450" indent="-171450">
              <a:buFont typeface="Wingdings" panose="05000000000000000000" pitchFamily="2" charset="2"/>
              <a:buChar char="Ø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单击此处添加注释</a:t>
            </a:r>
          </a:p>
        </p:txBody>
      </p:sp>
      <p:sp>
        <p:nvSpPr>
          <p:cNvPr id="12" name="内容占位符 3"/>
          <p:cNvSpPr>
            <a:spLocks noGrp="1"/>
          </p:cNvSpPr>
          <p:nvPr>
            <p:ph sz="quarter" idx="13"/>
          </p:nvPr>
        </p:nvSpPr>
        <p:spPr>
          <a:xfrm>
            <a:off x="4663467" y="1979471"/>
            <a:ext cx="3715406" cy="35630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37"/>
          <p:cNvSpPr>
            <a:spLocks noGrp="1"/>
          </p:cNvSpPr>
          <p:nvPr>
            <p:ph type="body" sz="quarter" idx="14" hasCustomPrompt="1"/>
          </p:nvPr>
        </p:nvSpPr>
        <p:spPr>
          <a:xfrm>
            <a:off x="4663467" y="5685983"/>
            <a:ext cx="3715406" cy="276999"/>
          </a:xfrm>
        </p:spPr>
        <p:txBody>
          <a:bodyPr wrap="square" anchor="t">
            <a:spAutoFit/>
          </a:bodyPr>
          <a:lstStyle>
            <a:lvl1pPr marL="171450" indent="-171450">
              <a:buFont typeface="Wingdings" panose="05000000000000000000" pitchFamily="2" charset="2"/>
              <a:buChar char="Ø"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单击此处添加注释</a:t>
            </a:r>
          </a:p>
        </p:txBody>
      </p:sp>
      <p:sp>
        <p:nvSpPr>
          <p:cNvPr id="10" name="文本占位符 37"/>
          <p:cNvSpPr>
            <a:spLocks noGrp="1"/>
          </p:cNvSpPr>
          <p:nvPr>
            <p:ph type="body" sz="quarter" idx="10" hasCustomPrompt="1"/>
          </p:nvPr>
        </p:nvSpPr>
        <p:spPr>
          <a:xfrm>
            <a:off x="750640" y="984806"/>
            <a:ext cx="7628233" cy="338554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单击此处添加文本</a:t>
            </a:r>
          </a:p>
        </p:txBody>
      </p:sp>
      <p:sp>
        <p:nvSpPr>
          <p:cNvPr id="14" name="文本占位符 37"/>
          <p:cNvSpPr>
            <a:spLocks noGrp="1"/>
          </p:cNvSpPr>
          <p:nvPr>
            <p:ph type="body" sz="quarter" idx="35" hasCustomPrompt="1"/>
          </p:nvPr>
        </p:nvSpPr>
        <p:spPr>
          <a:xfrm>
            <a:off x="750640" y="1445153"/>
            <a:ext cx="7628233" cy="377026"/>
          </a:xfrm>
        </p:spPr>
        <p:txBody>
          <a:bodyPr wrap="square" anchor="t">
            <a:spAutoFit/>
          </a:bodyPr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单击此处添加文本</a:t>
            </a:r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21"/>
          </p:nvPr>
        </p:nvSpPr>
        <p:spPr>
          <a:xfrm>
            <a:off x="8244408" y="6398609"/>
            <a:ext cx="442392" cy="365125"/>
          </a:xfrm>
        </p:spPr>
        <p:txBody>
          <a:bodyPr vert="horz" lIns="91440" tIns="45720" rIns="91440" bIns="45720" rtlCol="0" anchor="ctr"/>
          <a:lstStyle>
            <a:lvl1pPr algn="ctr">
              <a:defRPr lang="zh-CN" altLang="en-US" smtClean="0"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en-US" altLang="zh-CN" smtClean="0"/>
              <a:t>‹#›</a:t>
            </a:fld>
            <a:endParaRPr lang="en-US" altLang="zh-CN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8194940" y="6669360"/>
            <a:ext cx="52669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3" descr="E:\工作2019\鹏华\PPT\0429\拆分\鹏华基金PPT 0429-2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7" t="35877" r="4758" b="24602"/>
          <a:stretch>
            <a:fillRect/>
          </a:stretch>
        </p:blipFill>
        <p:spPr bwMode="auto">
          <a:xfrm>
            <a:off x="6948264" y="260649"/>
            <a:ext cx="1760730" cy="39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接连接符 17"/>
          <p:cNvCxnSpPr/>
          <p:nvPr userDrawn="1"/>
        </p:nvCxnSpPr>
        <p:spPr>
          <a:xfrm>
            <a:off x="556423" y="720314"/>
            <a:ext cx="803026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7112500" y="720314"/>
            <a:ext cx="1491948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 userDrawn="1"/>
        </p:nvSpPr>
        <p:spPr>
          <a:xfrm>
            <a:off x="562331" y="968345"/>
            <a:ext cx="142875" cy="371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35"/>
          <p:cNvSpPr>
            <a:spLocks noGrp="1"/>
          </p:cNvSpPr>
          <p:nvPr>
            <p:ph type="title" hasCustomPrompt="1"/>
          </p:nvPr>
        </p:nvSpPr>
        <p:spPr>
          <a:xfrm>
            <a:off x="557308" y="217846"/>
            <a:ext cx="6174932" cy="400110"/>
          </a:xfrm>
        </p:spPr>
        <p:txBody>
          <a:bodyPr wrap="square" anchor="t">
            <a:spAutoFit/>
          </a:bodyPr>
          <a:lstStyle>
            <a:lvl1pPr algn="l">
              <a:defRPr sz="20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0" name="文本占位符 37"/>
          <p:cNvSpPr>
            <a:spLocks noGrp="1"/>
          </p:cNvSpPr>
          <p:nvPr>
            <p:ph type="body" sz="quarter" idx="10" hasCustomPrompt="1"/>
          </p:nvPr>
        </p:nvSpPr>
        <p:spPr>
          <a:xfrm>
            <a:off x="750640" y="984806"/>
            <a:ext cx="7628233" cy="338554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单击此处添加文本</a:t>
            </a:r>
          </a:p>
        </p:txBody>
      </p:sp>
      <p:sp>
        <p:nvSpPr>
          <p:cNvPr id="14" name="文本占位符 37"/>
          <p:cNvSpPr>
            <a:spLocks noGrp="1"/>
          </p:cNvSpPr>
          <p:nvPr>
            <p:ph type="body" sz="quarter" idx="35" hasCustomPrompt="1"/>
          </p:nvPr>
        </p:nvSpPr>
        <p:spPr>
          <a:xfrm>
            <a:off x="750640" y="1445153"/>
            <a:ext cx="7628233" cy="377026"/>
          </a:xfrm>
        </p:spPr>
        <p:txBody>
          <a:bodyPr wrap="square" anchor="t">
            <a:spAutoFit/>
          </a:bodyPr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单击此处添加文本</a:t>
            </a:r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21"/>
          </p:nvPr>
        </p:nvSpPr>
        <p:spPr>
          <a:xfrm>
            <a:off x="8244408" y="6398609"/>
            <a:ext cx="442392" cy="365125"/>
          </a:xfrm>
        </p:spPr>
        <p:txBody>
          <a:bodyPr vert="horz" lIns="91440" tIns="45720" rIns="91440" bIns="45720" rtlCol="0" anchor="ctr"/>
          <a:lstStyle>
            <a:lvl1pPr algn="ctr">
              <a:defRPr lang="zh-CN" altLang="en-US" smtClean="0"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en-US" altLang="zh-CN" smtClean="0"/>
              <a:t>‹#›</a:t>
            </a:fld>
            <a:endParaRPr lang="en-US" altLang="zh-CN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8194940" y="6669360"/>
            <a:ext cx="52669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3" descr="E:\工作2019\鹏华\PPT\0429\拆分\鹏华基金PPT 0429-2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7" t="35877" r="4758" b="24602"/>
          <a:stretch>
            <a:fillRect/>
          </a:stretch>
        </p:blipFill>
        <p:spPr bwMode="auto">
          <a:xfrm>
            <a:off x="6948264" y="260649"/>
            <a:ext cx="1760730" cy="39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接连接符 17"/>
          <p:cNvCxnSpPr/>
          <p:nvPr userDrawn="1"/>
        </p:nvCxnSpPr>
        <p:spPr>
          <a:xfrm>
            <a:off x="556423" y="720314"/>
            <a:ext cx="803026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7112500" y="720314"/>
            <a:ext cx="1491948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 userDrawn="1"/>
        </p:nvSpPr>
        <p:spPr>
          <a:xfrm>
            <a:off x="562331" y="968345"/>
            <a:ext cx="142875" cy="371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35"/>
          <p:cNvSpPr>
            <a:spLocks noGrp="1"/>
          </p:cNvSpPr>
          <p:nvPr>
            <p:ph type="title" hasCustomPrompt="1"/>
          </p:nvPr>
        </p:nvSpPr>
        <p:spPr>
          <a:xfrm>
            <a:off x="557308" y="217846"/>
            <a:ext cx="6174932" cy="400110"/>
          </a:xfrm>
        </p:spPr>
        <p:txBody>
          <a:bodyPr wrap="square" anchor="t">
            <a:spAutoFit/>
          </a:bodyPr>
          <a:lstStyle>
            <a:lvl1pPr algn="l">
              <a:defRPr sz="20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21"/>
          </p:nvPr>
        </p:nvSpPr>
        <p:spPr>
          <a:xfrm>
            <a:off x="8244408" y="6398609"/>
            <a:ext cx="442392" cy="365125"/>
          </a:xfrm>
        </p:spPr>
        <p:txBody>
          <a:bodyPr vert="horz" lIns="91440" tIns="45720" rIns="91440" bIns="45720" rtlCol="0" anchor="ctr"/>
          <a:lstStyle>
            <a:lvl1pPr algn="ctr">
              <a:defRPr lang="zh-CN" altLang="en-US" smtClean="0"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en-US" altLang="zh-CN" smtClean="0"/>
              <a:t>‹#›</a:t>
            </a:fld>
            <a:endParaRPr lang="en-US" altLang="zh-CN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8194940" y="6669360"/>
            <a:ext cx="52669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 descr="E:\工作2019\鹏华\PPT\0429\拆分\鹏华基金PPT 0429-2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7" t="35877" r="4758" b="24602"/>
          <a:stretch>
            <a:fillRect/>
          </a:stretch>
        </p:blipFill>
        <p:spPr bwMode="auto">
          <a:xfrm>
            <a:off x="6948264" y="260649"/>
            <a:ext cx="1760730" cy="39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接连接符 7"/>
          <p:cNvCxnSpPr/>
          <p:nvPr userDrawn="1"/>
        </p:nvCxnSpPr>
        <p:spPr>
          <a:xfrm>
            <a:off x="556423" y="720314"/>
            <a:ext cx="803026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7112500" y="720314"/>
            <a:ext cx="1491948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35"/>
          <p:cNvSpPr>
            <a:spLocks noGrp="1"/>
          </p:cNvSpPr>
          <p:nvPr>
            <p:ph type="title" hasCustomPrompt="1"/>
          </p:nvPr>
        </p:nvSpPr>
        <p:spPr>
          <a:xfrm>
            <a:off x="557308" y="217846"/>
            <a:ext cx="6174932" cy="400110"/>
          </a:xfrm>
        </p:spPr>
        <p:txBody>
          <a:bodyPr wrap="square" anchor="t">
            <a:spAutoFit/>
          </a:bodyPr>
          <a:lstStyle>
            <a:lvl1pPr algn="l">
              <a:defRPr sz="20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sz="quarter" idx="10"/>
          </p:nvPr>
        </p:nvSpPr>
        <p:spPr>
          <a:xfrm>
            <a:off x="731834" y="1979472"/>
            <a:ext cx="3744128" cy="2208664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endParaRPr lang="zh-CN" altLang="en-US" dirty="0"/>
          </a:p>
        </p:txBody>
      </p:sp>
      <p:sp>
        <p:nvSpPr>
          <p:cNvPr id="11" name="图表占位符 2"/>
          <p:cNvSpPr>
            <a:spLocks noGrp="1"/>
          </p:cNvSpPr>
          <p:nvPr>
            <p:ph type="chart" sz="quarter" idx="11"/>
          </p:nvPr>
        </p:nvSpPr>
        <p:spPr>
          <a:xfrm>
            <a:off x="4649997" y="1979472"/>
            <a:ext cx="3744128" cy="2208664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731833" y="4353837"/>
            <a:ext cx="3744125" cy="1341906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 typeface="Wingdings" panose="05000000000000000000" pitchFamily="2" charset="2"/>
              <a:buNone/>
              <a:defRPr sz="1200">
                <a:solidFill>
                  <a:schemeClr val="accent2"/>
                </a:solidFill>
                <a:latin typeface="+mj-ea"/>
                <a:ea typeface="+mj-ea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  <a:endParaRPr lang="en-US" altLang="zh-CN" dirty="0"/>
          </a:p>
        </p:txBody>
      </p:sp>
      <p:sp>
        <p:nvSpPr>
          <p:cNvPr id="16" name="文本占位符 12"/>
          <p:cNvSpPr>
            <a:spLocks noGrp="1"/>
          </p:cNvSpPr>
          <p:nvPr>
            <p:ph type="body" sz="quarter" idx="13"/>
          </p:nvPr>
        </p:nvSpPr>
        <p:spPr>
          <a:xfrm>
            <a:off x="4648623" y="4353837"/>
            <a:ext cx="3744490" cy="1341906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 typeface="Wingdings" panose="05000000000000000000" pitchFamily="2" charset="2"/>
              <a:buNone/>
              <a:defRPr sz="1200">
                <a:solidFill>
                  <a:schemeClr val="accent2"/>
                </a:solidFill>
                <a:latin typeface="+mj-ea"/>
                <a:ea typeface="+mj-ea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  <a:endParaRPr lang="en-US" altLang="zh-CN" dirty="0"/>
          </a:p>
        </p:txBody>
      </p:sp>
      <p:sp>
        <p:nvSpPr>
          <p:cNvPr id="12" name="文本占位符 37"/>
          <p:cNvSpPr>
            <a:spLocks noGrp="1"/>
          </p:cNvSpPr>
          <p:nvPr>
            <p:ph type="body" sz="quarter" idx="14" hasCustomPrompt="1"/>
          </p:nvPr>
        </p:nvSpPr>
        <p:spPr>
          <a:xfrm>
            <a:off x="750640" y="984806"/>
            <a:ext cx="7642473" cy="338554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单击此处添加文本</a:t>
            </a:r>
          </a:p>
        </p:txBody>
      </p:sp>
      <p:sp>
        <p:nvSpPr>
          <p:cNvPr id="14" name="文本占位符 37"/>
          <p:cNvSpPr>
            <a:spLocks noGrp="1"/>
          </p:cNvSpPr>
          <p:nvPr>
            <p:ph type="body" sz="quarter" idx="35" hasCustomPrompt="1"/>
          </p:nvPr>
        </p:nvSpPr>
        <p:spPr>
          <a:xfrm>
            <a:off x="750640" y="1445153"/>
            <a:ext cx="7642473" cy="377026"/>
          </a:xfrm>
        </p:spPr>
        <p:txBody>
          <a:bodyPr wrap="square" anchor="t">
            <a:spAutoFit/>
          </a:bodyPr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单击此处添加文本</a:t>
            </a:r>
          </a:p>
        </p:txBody>
      </p:sp>
      <p:sp>
        <p:nvSpPr>
          <p:cNvPr id="15" name="灯片编号占位符 3"/>
          <p:cNvSpPr>
            <a:spLocks noGrp="1"/>
          </p:cNvSpPr>
          <p:nvPr>
            <p:ph type="sldNum" sz="quarter" idx="21"/>
          </p:nvPr>
        </p:nvSpPr>
        <p:spPr>
          <a:xfrm>
            <a:off x="8244408" y="6398609"/>
            <a:ext cx="442392" cy="365125"/>
          </a:xfrm>
        </p:spPr>
        <p:txBody>
          <a:bodyPr vert="horz" lIns="91440" tIns="45720" rIns="91440" bIns="45720" rtlCol="0" anchor="ctr"/>
          <a:lstStyle>
            <a:lvl1pPr algn="ctr">
              <a:defRPr lang="zh-CN" altLang="en-US" smtClean="0"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en-US" altLang="zh-CN" smtClean="0"/>
              <a:t>‹#›</a:t>
            </a:fld>
            <a:endParaRPr lang="en-US" altLang="zh-CN"/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8194940" y="6669360"/>
            <a:ext cx="52669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3" descr="E:\工作2019\鹏华\PPT\0429\拆分\鹏华基金PPT 0429-2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7" t="35877" r="4758" b="24602"/>
          <a:stretch>
            <a:fillRect/>
          </a:stretch>
        </p:blipFill>
        <p:spPr bwMode="auto">
          <a:xfrm>
            <a:off x="6948264" y="260649"/>
            <a:ext cx="1760730" cy="39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直接连接符 18"/>
          <p:cNvCxnSpPr/>
          <p:nvPr userDrawn="1"/>
        </p:nvCxnSpPr>
        <p:spPr>
          <a:xfrm>
            <a:off x="556423" y="720314"/>
            <a:ext cx="803026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 userDrawn="1"/>
        </p:nvCxnSpPr>
        <p:spPr>
          <a:xfrm>
            <a:off x="7112500" y="720314"/>
            <a:ext cx="1491948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 userDrawn="1"/>
        </p:nvSpPr>
        <p:spPr>
          <a:xfrm>
            <a:off x="562331" y="968345"/>
            <a:ext cx="142875" cy="371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35"/>
          <p:cNvSpPr>
            <a:spLocks noGrp="1"/>
          </p:cNvSpPr>
          <p:nvPr>
            <p:ph type="title" hasCustomPrompt="1"/>
          </p:nvPr>
        </p:nvSpPr>
        <p:spPr>
          <a:xfrm>
            <a:off x="557308" y="217846"/>
            <a:ext cx="6174932" cy="400110"/>
          </a:xfrm>
        </p:spPr>
        <p:txBody>
          <a:bodyPr wrap="square" anchor="t">
            <a:spAutoFit/>
          </a:bodyPr>
          <a:lstStyle>
            <a:lvl1pPr algn="l">
              <a:defRPr sz="20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2"/>
          </p:nvPr>
        </p:nvSpPr>
        <p:spPr>
          <a:xfrm>
            <a:off x="741504" y="4132237"/>
            <a:ext cx="2490830" cy="1384995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 typeface="Wingdings" panose="05000000000000000000" pitchFamily="2" charset="2"/>
              <a:buNone/>
              <a:defRPr sz="1200">
                <a:solidFill>
                  <a:schemeClr val="accent2"/>
                </a:solidFill>
                <a:latin typeface="+mj-ea"/>
                <a:ea typeface="+mj-ea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4"/>
          </p:nvPr>
        </p:nvSpPr>
        <p:spPr>
          <a:xfrm>
            <a:off x="744220" y="1979472"/>
            <a:ext cx="2490831" cy="2025592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endParaRPr lang="zh-CN" altLang="en-US"/>
          </a:p>
        </p:txBody>
      </p:sp>
      <p:sp>
        <p:nvSpPr>
          <p:cNvPr id="15" name="图片占位符 3"/>
          <p:cNvSpPr>
            <a:spLocks noGrp="1"/>
          </p:cNvSpPr>
          <p:nvPr>
            <p:ph type="pic" sz="quarter" idx="15"/>
          </p:nvPr>
        </p:nvSpPr>
        <p:spPr>
          <a:xfrm>
            <a:off x="3326584" y="1979472"/>
            <a:ext cx="2490831" cy="2025592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endParaRPr lang="zh-CN" altLang="en-US"/>
          </a:p>
        </p:txBody>
      </p:sp>
      <p:sp>
        <p:nvSpPr>
          <p:cNvPr id="17" name="图片占位符 3"/>
          <p:cNvSpPr>
            <a:spLocks noGrp="1"/>
          </p:cNvSpPr>
          <p:nvPr>
            <p:ph type="pic" sz="quarter" idx="16"/>
          </p:nvPr>
        </p:nvSpPr>
        <p:spPr>
          <a:xfrm>
            <a:off x="5903294" y="1979472"/>
            <a:ext cx="2490831" cy="2025592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endParaRPr lang="zh-CN" altLang="en-US"/>
          </a:p>
        </p:txBody>
      </p:sp>
      <p:sp>
        <p:nvSpPr>
          <p:cNvPr id="18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3326584" y="4132236"/>
            <a:ext cx="2492325" cy="1384995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 typeface="Wingdings" panose="05000000000000000000" pitchFamily="2" charset="2"/>
              <a:buNone/>
              <a:defRPr sz="1200">
                <a:solidFill>
                  <a:schemeClr val="accent2"/>
                </a:solidFill>
                <a:latin typeface="+mj-ea"/>
                <a:ea typeface="+mj-ea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19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5909243" y="4132237"/>
            <a:ext cx="2484882" cy="1384995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Font typeface="Wingdings" panose="05000000000000000000" pitchFamily="2" charset="2"/>
              <a:buNone/>
              <a:defRPr sz="1200">
                <a:solidFill>
                  <a:schemeClr val="accent2"/>
                </a:solidFill>
                <a:latin typeface="+mj-ea"/>
                <a:ea typeface="+mj-ea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14" name="文本占位符 37"/>
          <p:cNvSpPr>
            <a:spLocks noGrp="1"/>
          </p:cNvSpPr>
          <p:nvPr>
            <p:ph type="body" sz="quarter" idx="10" hasCustomPrompt="1"/>
          </p:nvPr>
        </p:nvSpPr>
        <p:spPr>
          <a:xfrm>
            <a:off x="750640" y="984806"/>
            <a:ext cx="7643485" cy="338554"/>
          </a:xfrm>
        </p:spPr>
        <p:txBody>
          <a:bodyPr wrap="square" anchor="t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单击此处添加文本</a:t>
            </a:r>
          </a:p>
        </p:txBody>
      </p:sp>
      <p:sp>
        <p:nvSpPr>
          <p:cNvPr id="16" name="文本占位符 37"/>
          <p:cNvSpPr>
            <a:spLocks noGrp="1"/>
          </p:cNvSpPr>
          <p:nvPr>
            <p:ph type="body" sz="quarter" idx="35" hasCustomPrompt="1"/>
          </p:nvPr>
        </p:nvSpPr>
        <p:spPr>
          <a:xfrm>
            <a:off x="750640" y="1445153"/>
            <a:ext cx="7643485" cy="377026"/>
          </a:xfrm>
        </p:spPr>
        <p:txBody>
          <a:bodyPr wrap="square" anchor="t">
            <a:spAutoFit/>
          </a:bodyPr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单击此处添加文本</a:t>
            </a:r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21"/>
          </p:nvPr>
        </p:nvSpPr>
        <p:spPr>
          <a:xfrm>
            <a:off x="8244408" y="6398609"/>
            <a:ext cx="442392" cy="365125"/>
          </a:xfrm>
        </p:spPr>
        <p:txBody>
          <a:bodyPr vert="horz" lIns="91440" tIns="45720" rIns="91440" bIns="45720" rtlCol="0" anchor="ctr"/>
          <a:lstStyle>
            <a:lvl1pPr algn="ctr">
              <a:defRPr lang="zh-CN" altLang="en-US" smtClean="0"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en-US" altLang="zh-CN" smtClean="0"/>
              <a:t>‹#›</a:t>
            </a:fld>
            <a:endParaRPr lang="en-US" altLang="zh-CN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8194940" y="6669360"/>
            <a:ext cx="526696" cy="0"/>
          </a:xfrm>
          <a:prstGeom prst="line">
            <a:avLst/>
          </a:prstGeom>
          <a:ln w="12700">
            <a:gradFill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3" descr="E:\工作2019\鹏华\PPT\0429\拆分\鹏华基金PPT 0429-2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87" t="35877" r="4758" b="24602"/>
          <a:stretch>
            <a:fillRect/>
          </a:stretch>
        </p:blipFill>
        <p:spPr bwMode="auto">
          <a:xfrm>
            <a:off x="6948264" y="260649"/>
            <a:ext cx="1760730" cy="39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直接连接符 22"/>
          <p:cNvCxnSpPr/>
          <p:nvPr userDrawn="1"/>
        </p:nvCxnSpPr>
        <p:spPr>
          <a:xfrm>
            <a:off x="556423" y="720314"/>
            <a:ext cx="803026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7112500" y="720314"/>
            <a:ext cx="1491948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 userDrawn="1"/>
        </p:nvSpPr>
        <p:spPr>
          <a:xfrm>
            <a:off x="562331" y="968345"/>
            <a:ext cx="142875" cy="371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72367-0B19-6A2D-D619-3B5C2F42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E318C1-B5BE-A3B4-C82D-3A69CBEA84E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C913308-F349-4B6D-A68A-DD1791B4A57B}" type="slidenum">
              <a:rPr lang="en-US" altLang="zh-CN" smtClean="0"/>
              <a:t>1</a:t>
            </a:fld>
            <a:endParaRPr lang="en-US" altLang="zh-CN"/>
          </a:p>
        </p:txBody>
      </p:sp>
      <p:sp>
        <p:nvSpPr>
          <p:cNvPr id="15" name="文本占位符 3">
            <a:extLst>
              <a:ext uri="{FF2B5EF4-FFF2-40B4-BE49-F238E27FC236}">
                <a16:creationId xmlns:a16="http://schemas.microsoft.com/office/drawing/2014/main" id="{13A0A79D-1EC5-130F-86DA-73A1480CE9B0}"/>
              </a:ext>
            </a:extLst>
          </p:cNvPr>
          <p:cNvSpPr txBox="1"/>
          <p:nvPr/>
        </p:nvSpPr>
        <p:spPr>
          <a:xfrm>
            <a:off x="755576" y="971786"/>
            <a:ext cx="8154649" cy="338554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行业动态</a:t>
            </a:r>
          </a:p>
        </p:txBody>
      </p:sp>
      <p:sp>
        <p:nvSpPr>
          <p:cNvPr id="13" name="标题 2">
            <a:extLst>
              <a:ext uri="{FF2B5EF4-FFF2-40B4-BE49-F238E27FC236}">
                <a16:creationId xmlns:a16="http://schemas.microsoft.com/office/drawing/2014/main" id="{5283737E-FE70-F6F0-3DD6-36FD077B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308" y="217846"/>
            <a:ext cx="6174932" cy="400110"/>
          </a:xfrm>
        </p:spPr>
        <p:txBody>
          <a:bodyPr/>
          <a:lstStyle/>
          <a:p>
            <a:r>
              <a:rPr lang="zh-CN" altLang="en-US" dirty="0"/>
              <a:t>地产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45B4CA-1801-BBB9-3D68-33F74E66D1A2}"/>
              </a:ext>
            </a:extLst>
          </p:cNvPr>
          <p:cNvSpPr/>
          <p:nvPr/>
        </p:nvSpPr>
        <p:spPr>
          <a:xfrm>
            <a:off x="35801" y="1483766"/>
            <a:ext cx="8964487" cy="4912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rgbClr val="C00000"/>
                </a:solidFill>
              </a:rPr>
              <a:t>新鸿基地产全年基础溢利稳步增长，租赁业务保持韧性。</a:t>
            </a:r>
            <a:r>
              <a:rPr lang="zh-CN" altLang="en-US" sz="1000" dirty="0"/>
              <a:t> </a:t>
            </a:r>
            <a:r>
              <a:rPr lang="en-US" altLang="zh-CN" sz="1000" dirty="0"/>
              <a:t>2025/26</a:t>
            </a:r>
            <a:r>
              <a:rPr lang="zh-CN" altLang="en-US" sz="1000" dirty="0"/>
              <a:t>财年实现基础溢利</a:t>
            </a:r>
            <a:r>
              <a:rPr lang="en-US" altLang="zh-CN" sz="1000" dirty="0"/>
              <a:t>228.50</a:t>
            </a:r>
            <a:r>
              <a:rPr lang="zh-CN" altLang="en-US" sz="1000" dirty="0"/>
              <a:t>亿港元，同比增长</a:t>
            </a:r>
            <a:r>
              <a:rPr lang="en-US" altLang="zh-CN" sz="1000" dirty="0"/>
              <a:t>4.6%</a:t>
            </a:r>
            <a:r>
              <a:rPr lang="zh-CN" altLang="en-US" sz="1000" dirty="0"/>
              <a:t>，股东应占溢利</a:t>
            </a:r>
            <a:r>
              <a:rPr lang="en-US" altLang="zh-CN" sz="1000" dirty="0"/>
              <a:t>214.26</a:t>
            </a:r>
            <a:r>
              <a:rPr lang="zh-CN" altLang="en-US" sz="1000" dirty="0"/>
              <a:t>亿港元，同比增长</a:t>
            </a:r>
            <a:r>
              <a:rPr lang="en-US" altLang="zh-CN" sz="1000" dirty="0"/>
              <a:t>11.1%</a:t>
            </a:r>
            <a:r>
              <a:rPr lang="zh-CN" altLang="en-US" sz="1000" dirty="0"/>
              <a:t>；全年物业销售溢利</a:t>
            </a:r>
            <a:r>
              <a:rPr lang="en-US" altLang="zh-CN" sz="1000" dirty="0"/>
              <a:t>82.92</a:t>
            </a:r>
            <a:r>
              <a:rPr lang="zh-CN" altLang="en-US" sz="1000" dirty="0"/>
              <a:t>亿港元，按所占权益计合约销售总额约</a:t>
            </a:r>
            <a:r>
              <a:rPr lang="en-US" altLang="zh-CN" sz="1000" dirty="0"/>
              <a:t>406</a:t>
            </a:r>
            <a:r>
              <a:rPr lang="zh-CN" altLang="en-US" sz="1000" dirty="0"/>
              <a:t>亿港元，其中香港约</a:t>
            </a:r>
            <a:r>
              <a:rPr lang="en-US" altLang="zh-CN" sz="1000" dirty="0"/>
              <a:t>381</a:t>
            </a:r>
            <a:r>
              <a:rPr lang="zh-CN" altLang="en-US" sz="1000" dirty="0"/>
              <a:t>亿港元。期内总租金收入</a:t>
            </a:r>
            <a:r>
              <a:rPr lang="en-US" altLang="zh-CN" sz="1000" dirty="0"/>
              <a:t>249.87</a:t>
            </a:r>
            <a:r>
              <a:rPr lang="zh-CN" altLang="en-US" sz="1000" dirty="0"/>
              <a:t>亿港元，同比增长</a:t>
            </a:r>
            <a:r>
              <a:rPr lang="en-US" altLang="zh-CN" sz="1000" dirty="0"/>
              <a:t>2%</a:t>
            </a:r>
            <a:r>
              <a:rPr lang="zh-CN" altLang="en-US" sz="1000" dirty="0"/>
              <a:t>，净租金收入</a:t>
            </a:r>
            <a:r>
              <a:rPr lang="en-US" altLang="zh-CN" sz="1000" dirty="0"/>
              <a:t>185.71</a:t>
            </a:r>
            <a:r>
              <a:rPr lang="zh-CN" altLang="en-US" sz="1000" dirty="0"/>
              <a:t>亿港元，同比增长</a:t>
            </a:r>
            <a:r>
              <a:rPr lang="en-US" altLang="zh-CN" sz="1000" dirty="0"/>
              <a:t>1%</a:t>
            </a:r>
            <a:r>
              <a:rPr lang="zh-CN" altLang="en-US" sz="1000" dirty="0"/>
              <a:t>；全年每股派息</a:t>
            </a:r>
            <a:r>
              <a:rPr lang="en-US" altLang="zh-CN" sz="1000" dirty="0"/>
              <a:t>3.91</a:t>
            </a:r>
            <a:r>
              <a:rPr lang="zh-CN" altLang="en-US" sz="1000" dirty="0"/>
              <a:t>港元，同比增长</a:t>
            </a:r>
            <a:r>
              <a:rPr lang="en-US" altLang="zh-CN" sz="1000" dirty="0"/>
              <a:t>4%</a:t>
            </a:r>
            <a:r>
              <a:rPr lang="zh-CN" altLang="en-US" sz="1000" dirty="0"/>
              <a:t>。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l"/>
            </a:pPr>
            <a:endParaRPr lang="en-US" altLang="zh-CN" sz="10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rgbClr val="C00000"/>
                </a:solidFill>
              </a:rPr>
              <a:t>中国金茂上半年销售逆势增长，行业排名进一步提升。 </a:t>
            </a:r>
            <a:r>
              <a:rPr lang="en-US" altLang="zh-CN" sz="1000" dirty="0"/>
              <a:t>2026H1</a:t>
            </a:r>
            <a:r>
              <a:rPr lang="zh-CN" altLang="en-US" sz="1000" dirty="0"/>
              <a:t>实现收入</a:t>
            </a:r>
            <a:r>
              <a:rPr lang="en-US" altLang="zh-CN" sz="1000" dirty="0"/>
              <a:t>214.18</a:t>
            </a:r>
            <a:r>
              <a:rPr lang="zh-CN" altLang="en-US" sz="1000" dirty="0"/>
              <a:t>亿元，同比下降</a:t>
            </a:r>
            <a:r>
              <a:rPr lang="en-US" altLang="zh-CN" sz="1000" dirty="0"/>
              <a:t>15%</a:t>
            </a:r>
            <a:r>
              <a:rPr lang="zh-CN" altLang="en-US" sz="1000" dirty="0"/>
              <a:t>；归母溢利</a:t>
            </a:r>
            <a:r>
              <a:rPr lang="en-US" altLang="zh-CN" sz="1000" dirty="0"/>
              <a:t>8.79</a:t>
            </a:r>
            <a:r>
              <a:rPr lang="zh-CN" altLang="en-US" sz="1000" dirty="0"/>
              <a:t>亿元，同比下降</a:t>
            </a:r>
            <a:r>
              <a:rPr lang="en-US" altLang="zh-CN" sz="1000" dirty="0"/>
              <a:t>19%</a:t>
            </a:r>
            <a:r>
              <a:rPr lang="zh-CN" altLang="en-US" sz="1000" dirty="0"/>
              <a:t>，扣除投资物业公平值亏损后归母溢利</a:t>
            </a:r>
            <a:r>
              <a:rPr lang="en-US" altLang="zh-CN" sz="1000" dirty="0"/>
              <a:t>10.10</a:t>
            </a:r>
            <a:r>
              <a:rPr lang="zh-CN" altLang="en-US" sz="1000" dirty="0"/>
              <a:t>亿元，同比下降</a:t>
            </a:r>
            <a:r>
              <a:rPr lang="en-US" altLang="zh-CN" sz="1000" dirty="0"/>
              <a:t>10%</a:t>
            </a:r>
            <a:r>
              <a:rPr lang="zh-CN" altLang="en-US" sz="1000" dirty="0"/>
              <a:t>。期内实现签约销售</a:t>
            </a:r>
            <a:r>
              <a:rPr lang="en-US" altLang="zh-CN" sz="1000" dirty="0"/>
              <a:t>575</a:t>
            </a:r>
            <a:r>
              <a:rPr lang="zh-CN" altLang="en-US" sz="1000" dirty="0"/>
              <a:t>亿元，同比增长</a:t>
            </a:r>
            <a:r>
              <a:rPr lang="en-US" altLang="zh-CN" sz="1000" dirty="0"/>
              <a:t>8%</a:t>
            </a:r>
            <a:r>
              <a:rPr lang="zh-CN" altLang="en-US" sz="1000" dirty="0"/>
              <a:t>，行业排名升至第</a:t>
            </a:r>
            <a:r>
              <a:rPr lang="en-US" altLang="zh-CN" sz="1000" dirty="0"/>
              <a:t>7</a:t>
            </a:r>
            <a:r>
              <a:rPr lang="zh-CN" altLang="en-US" sz="1000" dirty="0"/>
              <a:t>；</a:t>
            </a:r>
            <a:r>
              <a:rPr lang="en-US" altLang="zh-CN" sz="1000" dirty="0"/>
              <a:t>8</a:t>
            </a:r>
            <a:r>
              <a:rPr lang="zh-CN" altLang="en-US" sz="1000" dirty="0"/>
              <a:t>月单月签约销售</a:t>
            </a:r>
            <a:r>
              <a:rPr lang="en-US" altLang="zh-CN" sz="1000" dirty="0"/>
              <a:t>73.98</a:t>
            </a:r>
            <a:r>
              <a:rPr lang="zh-CN" altLang="en-US" sz="1000" dirty="0"/>
              <a:t>亿元，</a:t>
            </a:r>
            <a:r>
              <a:rPr lang="en-US" altLang="zh-CN" sz="1000" dirty="0"/>
              <a:t>1-8</a:t>
            </a:r>
            <a:r>
              <a:rPr lang="zh-CN" altLang="en-US" sz="1000" dirty="0"/>
              <a:t>月累计签约销售</a:t>
            </a:r>
            <a:r>
              <a:rPr lang="en-US" altLang="zh-CN" sz="1000" dirty="0"/>
              <a:t>741.00</a:t>
            </a:r>
            <a:r>
              <a:rPr lang="zh-CN" altLang="en-US" sz="1000" dirty="0"/>
              <a:t>亿元。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l"/>
            </a:pPr>
            <a:endParaRPr lang="en-US" altLang="zh-CN" sz="1000" dirty="0"/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rgbClr val="C00000"/>
                </a:solidFill>
              </a:rPr>
              <a:t>贝壳盈利能力显著改善，存量房业务韧性突出。 </a:t>
            </a:r>
            <a:r>
              <a:rPr lang="en-US" altLang="zh-CN" sz="1000" dirty="0"/>
              <a:t>2026H1</a:t>
            </a:r>
            <a:r>
              <a:rPr lang="zh-CN" altLang="en-US" sz="1000" dirty="0"/>
              <a:t>总交易额</a:t>
            </a:r>
            <a:r>
              <a:rPr lang="en-US" altLang="zh-CN" sz="1000" dirty="0"/>
              <a:t>16,455</a:t>
            </a:r>
            <a:r>
              <a:rPr lang="zh-CN" altLang="en-US" sz="1000" dirty="0"/>
              <a:t>亿元，同比下降</a:t>
            </a:r>
            <a:r>
              <a:rPr lang="en-US" altLang="zh-CN" sz="1000" dirty="0"/>
              <a:t>4.5%</a:t>
            </a:r>
            <a:r>
              <a:rPr lang="zh-CN" altLang="en-US" sz="1000" dirty="0"/>
              <a:t>，其中存量房交易</a:t>
            </a:r>
            <a:r>
              <a:rPr lang="en-US" altLang="zh-CN" sz="1000" dirty="0"/>
              <a:t>11,643</a:t>
            </a:r>
            <a:r>
              <a:rPr lang="zh-CN" altLang="en-US" sz="1000" dirty="0"/>
              <a:t>亿元、基本持平，新房交易</a:t>
            </a:r>
            <a:r>
              <a:rPr lang="en-US" altLang="zh-CN" sz="1000" dirty="0"/>
              <a:t>4,043</a:t>
            </a:r>
            <a:r>
              <a:rPr lang="zh-CN" altLang="en-US" sz="1000" dirty="0"/>
              <a:t>亿元，同比下降</a:t>
            </a:r>
            <a:r>
              <a:rPr lang="en-US" altLang="zh-CN" sz="1000" dirty="0"/>
              <a:t>17.1%</a:t>
            </a:r>
            <a:r>
              <a:rPr lang="zh-CN" altLang="en-US" sz="1000" dirty="0"/>
              <a:t>；实现净收入</a:t>
            </a:r>
            <a:r>
              <a:rPr lang="en-US" altLang="zh-CN" sz="1000" dirty="0"/>
              <a:t>434</a:t>
            </a:r>
            <a:r>
              <a:rPr lang="zh-CN" altLang="en-US" sz="1000" dirty="0"/>
              <a:t>亿元，同比下降</a:t>
            </a:r>
            <a:r>
              <a:rPr lang="en-US" altLang="zh-CN" sz="1000" dirty="0"/>
              <a:t>12.0%</a:t>
            </a:r>
            <a:r>
              <a:rPr lang="zh-CN" altLang="en-US" sz="1000" dirty="0"/>
              <a:t>，净利润</a:t>
            </a:r>
            <a:r>
              <a:rPr lang="en-US" altLang="zh-CN" sz="1000" dirty="0"/>
              <a:t>38.79</a:t>
            </a:r>
            <a:r>
              <a:rPr lang="zh-CN" altLang="en-US" sz="1000" dirty="0"/>
              <a:t>亿元，同比增长</a:t>
            </a:r>
            <a:r>
              <a:rPr lang="en-US" altLang="zh-CN" sz="1000" dirty="0"/>
              <a:t>79.4%</a:t>
            </a:r>
            <a:r>
              <a:rPr lang="zh-CN" altLang="en-US" sz="1000" dirty="0"/>
              <a:t>，经调整净利润</a:t>
            </a:r>
            <a:r>
              <a:rPr lang="en-US" altLang="zh-CN" sz="1000" dirty="0"/>
              <a:t>47.96</a:t>
            </a:r>
            <a:r>
              <a:rPr lang="zh-CN" altLang="en-US" sz="1000" dirty="0"/>
              <a:t>亿元，同比增长</a:t>
            </a:r>
            <a:r>
              <a:rPr lang="en-US" altLang="zh-CN" sz="1000" dirty="0"/>
              <a:t>49.2%</a:t>
            </a:r>
            <a:r>
              <a:rPr lang="zh-CN" altLang="en-US" sz="1000" dirty="0"/>
              <a:t>，毛利率同比提升</a:t>
            </a:r>
            <a:r>
              <a:rPr lang="en-US" altLang="zh-CN" sz="1000" dirty="0"/>
              <a:t>6.7pct</a:t>
            </a:r>
            <a:r>
              <a:rPr lang="zh-CN" altLang="en-US" sz="1000" dirty="0"/>
              <a:t>至</a:t>
            </a:r>
            <a:r>
              <a:rPr lang="en-US" altLang="zh-CN" sz="1000" dirty="0"/>
              <a:t>28.6%</a:t>
            </a:r>
            <a:r>
              <a:rPr lang="zh-CN" altLang="en-US" sz="1000" dirty="0"/>
              <a:t>。</a:t>
            </a:r>
            <a:endParaRPr lang="en-US" altLang="zh-CN" sz="1000" dirty="0"/>
          </a:p>
          <a:p>
            <a:pPr>
              <a:lnSpc>
                <a:spcPct val="150000"/>
              </a:lnSpc>
              <a:buSzPct val="60000"/>
            </a:pPr>
            <a:endParaRPr lang="en-US" altLang="zh-CN" sz="1000" dirty="0"/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rgbClr val="C00000"/>
                </a:solidFill>
              </a:rPr>
              <a:t>招商蛇口</a:t>
            </a:r>
            <a:r>
              <a:rPr lang="en-US" altLang="zh-CN" sz="1000" b="1" dirty="0">
                <a:solidFill>
                  <a:srgbClr val="C00000"/>
                </a:solidFill>
              </a:rPr>
              <a:t>8</a:t>
            </a:r>
            <a:r>
              <a:rPr lang="zh-CN" altLang="en-US" sz="1000" b="1" dirty="0">
                <a:solidFill>
                  <a:srgbClr val="C00000"/>
                </a:solidFill>
              </a:rPr>
              <a:t>月销售保持较高规模，持续补充核心城市土地储备。 </a:t>
            </a:r>
            <a:r>
              <a:rPr lang="en-US" altLang="zh-CN" sz="1000" dirty="0"/>
              <a:t>2026</a:t>
            </a:r>
            <a:r>
              <a:rPr lang="zh-CN" altLang="en-US" sz="1000" dirty="0"/>
              <a:t>年</a:t>
            </a:r>
            <a:r>
              <a:rPr lang="en-US" altLang="zh-CN" sz="1000" dirty="0"/>
              <a:t>8</a:t>
            </a:r>
            <a:r>
              <a:rPr lang="zh-CN" altLang="en-US" sz="1000" dirty="0"/>
              <a:t>月实现签约销售面积</a:t>
            </a:r>
            <a:r>
              <a:rPr lang="en-US" altLang="zh-CN" sz="1000" dirty="0"/>
              <a:t>38.89</a:t>
            </a:r>
            <a:r>
              <a:rPr lang="zh-CN" altLang="en-US" sz="1000" dirty="0"/>
              <a:t>万平方米、签约销售金额</a:t>
            </a:r>
            <a:r>
              <a:rPr lang="en-US" altLang="zh-CN" sz="1000" dirty="0"/>
              <a:t>157.12</a:t>
            </a:r>
            <a:r>
              <a:rPr lang="zh-CN" altLang="en-US" sz="1000" dirty="0"/>
              <a:t>亿元；</a:t>
            </a:r>
            <a:r>
              <a:rPr lang="en-US" altLang="zh-CN" sz="1000" dirty="0"/>
              <a:t>1-8</a:t>
            </a:r>
            <a:r>
              <a:rPr lang="zh-CN" altLang="en-US" sz="1000" dirty="0"/>
              <a:t>月累计签约销售面积</a:t>
            </a:r>
            <a:r>
              <a:rPr lang="en-US" altLang="zh-CN" sz="1000" dirty="0"/>
              <a:t>386.36</a:t>
            </a:r>
            <a:r>
              <a:rPr lang="zh-CN" altLang="en-US" sz="1000" dirty="0"/>
              <a:t>万平方米、销售金额</a:t>
            </a:r>
            <a:r>
              <a:rPr lang="en-US" altLang="zh-CN" sz="1000" dirty="0"/>
              <a:t>1,257.71</a:t>
            </a:r>
            <a:r>
              <a:rPr lang="zh-CN" altLang="en-US" sz="1000" dirty="0"/>
              <a:t>亿元。近期新增上海唐镇、北京苹果园及香港洪水桥</a:t>
            </a:r>
            <a:r>
              <a:rPr lang="en-US" altLang="zh-CN" sz="1000" dirty="0"/>
              <a:t>3</a:t>
            </a:r>
            <a:r>
              <a:rPr lang="zh-CN" altLang="en-US" sz="1000" dirty="0"/>
              <a:t>个项目，权益地价分别约</a:t>
            </a:r>
            <a:r>
              <a:rPr lang="en-US" altLang="zh-CN" sz="1000" dirty="0"/>
              <a:t>11.06</a:t>
            </a:r>
            <a:r>
              <a:rPr lang="zh-CN" altLang="en-US" sz="1000" dirty="0"/>
              <a:t>亿元、</a:t>
            </a:r>
            <a:r>
              <a:rPr lang="en-US" altLang="zh-CN" sz="1000" dirty="0"/>
              <a:t>15.04</a:t>
            </a:r>
            <a:r>
              <a:rPr lang="zh-CN" altLang="en-US" sz="1000" dirty="0"/>
              <a:t>亿元及</a:t>
            </a:r>
            <a:r>
              <a:rPr lang="en-US" altLang="zh-CN" sz="1000" dirty="0"/>
              <a:t>1.50</a:t>
            </a:r>
            <a:r>
              <a:rPr lang="zh-CN" altLang="en-US" sz="1000" dirty="0"/>
              <a:t>亿元，继续聚焦上海、北京及香港等核心城市补充资源。</a:t>
            </a:r>
            <a:endParaRPr lang="en-US" altLang="zh-CN" sz="1000" dirty="0"/>
          </a:p>
          <a:p>
            <a:pPr>
              <a:lnSpc>
                <a:spcPct val="150000"/>
              </a:lnSpc>
              <a:buSzPct val="60000"/>
            </a:pPr>
            <a:endParaRPr lang="en-US" altLang="zh-CN" sz="1000" b="1" dirty="0">
              <a:solidFill>
                <a:srgbClr val="C00000"/>
              </a:solidFill>
            </a:endParaRPr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rgbClr val="C00000"/>
                </a:solidFill>
              </a:rPr>
              <a:t>保利发展</a:t>
            </a:r>
            <a:r>
              <a:rPr lang="en-US" altLang="zh-CN" sz="1000" b="1" dirty="0">
                <a:solidFill>
                  <a:srgbClr val="C00000"/>
                </a:solidFill>
              </a:rPr>
              <a:t>8</a:t>
            </a:r>
            <a:r>
              <a:rPr lang="zh-CN" altLang="en-US" sz="1000" b="1" dirty="0">
                <a:solidFill>
                  <a:srgbClr val="C00000"/>
                </a:solidFill>
              </a:rPr>
              <a:t>月销售同比承压，继续加码核心城市优质项目。 </a:t>
            </a:r>
            <a:r>
              <a:rPr lang="en-US" altLang="zh-CN" sz="1000" dirty="0"/>
              <a:t>8</a:t>
            </a:r>
            <a:r>
              <a:rPr lang="zh-CN" altLang="en-US" sz="1000" dirty="0"/>
              <a:t>月实现签约面积</a:t>
            </a:r>
            <a:r>
              <a:rPr lang="en-US" altLang="zh-CN" sz="1000" dirty="0"/>
              <a:t>78.33</a:t>
            </a:r>
            <a:r>
              <a:rPr lang="zh-CN" altLang="en-US" sz="1000" dirty="0"/>
              <a:t>万平方米、签约金额</a:t>
            </a:r>
            <a:r>
              <a:rPr lang="en-US" altLang="zh-CN" sz="1000" dirty="0"/>
              <a:t>150.13</a:t>
            </a:r>
            <a:r>
              <a:rPr lang="zh-CN" altLang="en-US" sz="1000" dirty="0"/>
              <a:t>亿元，均同比下降</a:t>
            </a:r>
            <a:r>
              <a:rPr lang="en-US" altLang="zh-CN" sz="1000" dirty="0"/>
              <a:t>16.67%</a:t>
            </a:r>
            <a:r>
              <a:rPr lang="zh-CN" altLang="en-US" sz="1000" dirty="0"/>
              <a:t>；</a:t>
            </a:r>
            <a:r>
              <a:rPr lang="en-US" altLang="zh-CN" sz="1000" dirty="0"/>
              <a:t>1-8</a:t>
            </a:r>
            <a:r>
              <a:rPr lang="zh-CN" altLang="en-US" sz="1000" dirty="0"/>
              <a:t>月累计签约金额</a:t>
            </a:r>
            <a:r>
              <a:rPr lang="en-US" altLang="zh-CN" sz="1000" dirty="0"/>
              <a:t>1,650.42</a:t>
            </a:r>
            <a:r>
              <a:rPr lang="zh-CN" altLang="en-US" sz="1000" dirty="0"/>
              <a:t>亿元，同比下降</a:t>
            </a:r>
            <a:r>
              <a:rPr lang="en-US" altLang="zh-CN" sz="1000" dirty="0"/>
              <a:t>8.92%</a:t>
            </a:r>
            <a:r>
              <a:rPr lang="zh-CN" altLang="en-US" sz="1000" dirty="0"/>
              <a:t>。公司同期新增东莞南城区住宅地块，权益比例</a:t>
            </a:r>
            <a:r>
              <a:rPr lang="en-US" altLang="zh-CN" sz="1000" dirty="0"/>
              <a:t>100%</a:t>
            </a:r>
            <a:r>
              <a:rPr lang="zh-CN" altLang="en-US" sz="1000" dirty="0"/>
              <a:t>，需支付价款</a:t>
            </a:r>
            <a:r>
              <a:rPr lang="en-US" altLang="zh-CN" sz="1000" dirty="0"/>
              <a:t>32.66</a:t>
            </a:r>
            <a:r>
              <a:rPr lang="zh-CN" altLang="en-US" sz="1000" dirty="0"/>
              <a:t>亿元。</a:t>
            </a:r>
            <a:endParaRPr lang="en-US" altLang="zh-CN" sz="1000" dirty="0"/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l"/>
            </a:pPr>
            <a:endParaRPr lang="en-US" altLang="zh-CN" sz="10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SzPct val="60000"/>
              <a:buFont typeface="Wingdings" panose="05000000000000000000" pitchFamily="2" charset="2"/>
              <a:buChar char="l"/>
            </a:pPr>
            <a:r>
              <a:rPr lang="zh-CN" altLang="en-US" sz="1000" b="1" dirty="0">
                <a:solidFill>
                  <a:srgbClr val="C00000"/>
                </a:solidFill>
              </a:rPr>
              <a:t>新城控股商业</a:t>
            </a:r>
            <a:r>
              <a:rPr lang="en-US" altLang="zh-CN" sz="1000" b="1" dirty="0">
                <a:solidFill>
                  <a:srgbClr val="C00000"/>
                </a:solidFill>
              </a:rPr>
              <a:t>REITs</a:t>
            </a:r>
            <a:r>
              <a:rPr lang="zh-CN" altLang="en-US" sz="1000" b="1" dirty="0">
                <a:solidFill>
                  <a:srgbClr val="C00000"/>
                </a:solidFill>
              </a:rPr>
              <a:t>获证监会注册，商业资产资本循环取得关键进展。 </a:t>
            </a:r>
            <a:r>
              <a:rPr lang="zh-CN" altLang="en-US" sz="1000" dirty="0"/>
              <a:t>公司申报的“广发新城吾悦封闭式商业不动产证券投资基金”于</a:t>
            </a:r>
            <a:r>
              <a:rPr lang="en-US" altLang="zh-CN" sz="1000" dirty="0"/>
              <a:t>9</a:t>
            </a:r>
            <a:r>
              <a:rPr lang="zh-CN" altLang="en-US" sz="1000" dirty="0"/>
              <a:t>月</a:t>
            </a:r>
            <a:r>
              <a:rPr lang="en-US" altLang="zh-CN" sz="1000" dirty="0"/>
              <a:t>3</a:t>
            </a:r>
            <a:r>
              <a:rPr lang="zh-CN" altLang="en-US" sz="1000" dirty="0"/>
              <a:t>日获证监会注册批复，基金募集份额</a:t>
            </a:r>
            <a:r>
              <a:rPr lang="en-US" altLang="zh-CN" sz="1000" dirty="0"/>
              <a:t>5</a:t>
            </a:r>
            <a:r>
              <a:rPr lang="zh-CN" altLang="en-US" sz="1000" dirty="0"/>
              <a:t>亿份、合同期限</a:t>
            </a:r>
            <a:r>
              <a:rPr lang="en-US" altLang="zh-CN" sz="1000" dirty="0"/>
              <a:t>32</a:t>
            </a:r>
            <a:r>
              <a:rPr lang="zh-CN" altLang="en-US" sz="1000" dirty="0"/>
              <a:t>年，基金管理人为广发基金。</a:t>
            </a:r>
            <a:endParaRPr lang="en-US" altLang="zh-CN" sz="1000" dirty="0"/>
          </a:p>
        </p:txBody>
      </p:sp>
    </p:spTree>
    <p:extLst>
      <p:ext uri="{BB962C8B-B14F-4D97-AF65-F5344CB8AC3E}">
        <p14:creationId xmlns:p14="http://schemas.microsoft.com/office/powerpoint/2010/main" val="31927379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I5ZGNlMzBlNjlhMjY2ODdhYzQ2YzljMTA2ODVjOTgifQ=="/>
</p:tagLst>
</file>

<file path=ppt/theme/theme1.xml><?xml version="1.0" encoding="utf-8"?>
<a:theme xmlns:a="http://schemas.openxmlformats.org/drawingml/2006/main" name="Office 主题">
  <a:themeElements>
    <a:clrScheme name="鹏华基金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10000"/>
      </a:accent1>
      <a:accent2>
        <a:srgbClr val="888888"/>
      </a:accent2>
      <a:accent3>
        <a:srgbClr val="C3C3C3"/>
      </a:accent3>
      <a:accent4>
        <a:srgbClr val="AB4646"/>
      </a:accent4>
      <a:accent5>
        <a:srgbClr val="C58B8B"/>
      </a:accent5>
      <a:accent6>
        <a:srgbClr val="A22E2E"/>
      </a:accent6>
      <a:hlink>
        <a:srgbClr val="0000FF"/>
      </a:hlink>
      <a:folHlink>
        <a:srgbClr val="800080"/>
      </a:folHlink>
    </a:clrScheme>
    <a:fontScheme name="自定义 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778</Words>
  <Application>Microsoft Office PowerPoint</Application>
  <PresentationFormat>全屏显示(4:3)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Wingdings</vt:lpstr>
      <vt:lpstr>Office 主题</vt:lpstr>
      <vt:lpstr>地产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单击此处添加标题</dc:title>
  <dc:creator/>
  <cp:lastModifiedBy/>
  <cp:revision>3792</cp:revision>
  <dcterms:created xsi:type="dcterms:W3CDTF">2021-05-08T16:19:00Z</dcterms:created>
  <dcterms:modified xsi:type="dcterms:W3CDTF">2026-09-16T12:49:36Z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CBCBE37AC06A4F4BBDD7DFC7074A09C1_13</vt:lpwstr>
  </property>
</Properties>
</file>